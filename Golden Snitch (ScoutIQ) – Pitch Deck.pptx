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Good morning members of the jury. We present Golden Snitch: a roster-first esports operations intelligence platform.</a:t>
            </a:r>
          </a:p>
          <a:p/>
          <a:p>
            <a:r>
              <a:t>2. MAIN POINT: Traditional esports scouting burns millions every season by signing high-frag players who don't fit the team's tactical needs.</a:t>
            </a:r>
          </a:p>
          <a:p/>
          <a:p>
            <a:r>
              <a:t>3. EVIDENCE: Golden Snitch is an operational production-ready solution evaluated on 1,726 VCT LAN matches and backed by 112 passing automated test cases.</a:t>
            </a:r>
          </a:p>
          <a:p/>
          <a:p>
            <a:r>
              <a:t>4. TRANSITION: Let us examine why traditional esports scouting breaks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Here is the core dilemma that every esports general manager faces today.</a:t>
            </a:r>
          </a:p>
          <a:p/>
          <a:p>
            <a:r>
              <a:t>2. MAIN POINT: Leaderboards rank players on kills and combat score, completely ignoring tactical role demands.</a:t>
            </a:r>
          </a:p>
          <a:p/>
          <a:p>
            <a:r>
              <a:t>3. EVIDENCE: In our PRD case study shown here, Voltz had the highest raw combat score (285 ACS), but scored a low 49.3 Roster Fit because 42% of his kills were useless exit frags during lost rounds.</a:t>
            </a:r>
          </a:p>
          <a:p/>
          <a:p>
            <a:r>
              <a:t>4. TRANSITION: Mirage, despite a lower combat score, scored 74.8 because he solved Sentinels' exact tactical utility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Now let's examine how Golden Snitch processes candidate data from raw match logs into roster decisions.</a:t>
            </a:r>
          </a:p>
          <a:p/>
          <a:p>
            <a:r>
              <a:t>2. MAIN POINT: We follow an objective 4-stage pipeline: ingestion, contextual normalization, cognitive biometrics, and integer programming.</a:t>
            </a:r>
          </a:p>
          <a:p/>
          <a:p>
            <a:r>
              <a:t>3. EVIDENCE: Our mathematical engine features strict sample-size discounting and double-analyst guardrails for in-game leaders.</a:t>
            </a:r>
          </a:p>
          <a:p/>
          <a:p>
            <a:r>
              <a:t>4. TRANSITION: Next, let's examine the technical architecture and security guarantees that ensure enterprise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Enterprise esports franchises require high reliability, data protection, and auditable governance.</a:t>
            </a:r>
          </a:p>
          <a:p/>
          <a:p>
            <a:r>
              <a:t>2. MAIN POINT: Golden Snitch is built on an asynchronous FastAPI backend and React 18 client with SQLite WAL mode.</a:t>
            </a:r>
          </a:p>
          <a:p/>
          <a:p>
            <a:r>
              <a:t>3. EVIDENCE: We implement cryptographic SHA-256 decision snapshots, formula injection sanitization, and graceful offline fallback.</a:t>
            </a:r>
          </a:p>
          <a:p/>
          <a:p>
            <a:r>
              <a:t>4. TRANSITION: Now let's examine how this translates into player development and roster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Beyond statistical scoring, Golden Snitch bridges player hardware biometrics with franchise roster optimization.</a:t>
            </a:r>
          </a:p>
          <a:p/>
          <a:p>
            <a:r>
              <a:t>2. MAIN POINT: Our Cognitive Lab evaluates human reaction latency, aim precision, and spatial working memory under competitive conditions.</a:t>
            </a:r>
          </a:p>
          <a:p/>
          <a:p>
            <a:r>
              <a:t>3. EVIDENCE: On the franchise side, our counterfactual simulations deliver an 88% reduction in scouting cycle time and eliminate expensive buyout mistakes.</a:t>
            </a:r>
          </a:p>
          <a:p/>
          <a:p>
            <a:r>
              <a:t>4. TRANSITION: Finally, let us review our product roadmap and strategic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OPENING: In conclusion, Golden Snitch is not a theoretical concept; it is an operational solution.</a:t>
            </a:r>
          </a:p>
          <a:p/>
          <a:p>
            <a:r>
              <a:t>2. MAIN POINT: We have verified our mathematical scoring against 1,726 VCT matches, validated 112 automated tests, and proven our ability to detect statistical decoys.</a:t>
            </a:r>
          </a:p>
          <a:p/>
          <a:p>
            <a:r>
              <a:t>3. EVIDENCE: Our roadmap takes us through collegiate academy pilots, computer-vision broadcast ingestion, and multi-game expansion.</a:t>
            </a:r>
          </a:p>
          <a:p/>
          <a:p>
            <a:r>
              <a:t>4. TRANSITION: We invite you to test our live deployment and join us in scouting beyond the scoreboard.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B82E"/>
                </a:solidFill>
                <a:latin typeface="Segoe UI"/>
              </a:defRPr>
            </a:pPr>
            <a:r>
              <a:t>ESPORTS OPERATIONS INTELLIGENCE</a:t>
            </a:r>
          </a:p>
          <a:p>
            <a:pPr>
              <a:spcBef>
                <a:spcPts val="400"/>
              </a:spcBef>
              <a:defRPr sz="4000" b="1">
                <a:solidFill>
                  <a:srgbClr val="F5F7FA"/>
                </a:solidFill>
                <a:latin typeface="Segoe UI"/>
              </a:defRPr>
            </a:pPr>
            <a:r>
              <a:t>Golden Snitch</a:t>
            </a:r>
          </a:p>
          <a:p>
            <a:pPr>
              <a:spcBef>
                <a:spcPts val="600"/>
              </a:spcBef>
              <a:defRPr sz="1500" b="1">
                <a:solidFill>
                  <a:srgbClr val="B4BECC"/>
                </a:solidFill>
                <a:latin typeface="Segoe UI"/>
              </a:defRPr>
            </a:pPr>
            <a:r>
              <a:t>AI-powered esports scouting and multi-roster intelligence platform.</a:t>
            </a:r>
          </a:p>
          <a:p>
            <a:pPr>
              <a:spcBef>
                <a:spcPts val="600"/>
              </a:spcBef>
              <a:defRPr sz="1200">
                <a:solidFill>
                  <a:srgbClr val="8491A3"/>
                </a:solidFill>
                <a:latin typeface="Segoe UI"/>
              </a:defRPr>
            </a:pPr>
            <a:r>
              <a:t>Transforming competitive recruitment from superficial frag hunting into an objective, gap-driven decision science.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B82E"/>
                </a:solidFill>
                <a:latin typeface="Segoe UI"/>
              </a:defRPr>
            </a:pPr>
            <a:r>
              <a:t>1,726 VCT MATCHES</a:t>
            </a:r>
          </a:p>
          <a:p>
            <a:pPr>
              <a:spcBef>
                <a:spcPts val="200"/>
              </a:spcBef>
              <a:defRPr sz="1050">
                <a:solidFill>
                  <a:srgbClr val="8491A3"/>
                </a:solidFill>
                <a:latin typeface="Segoe UI"/>
              </a:defRPr>
            </a:pPr>
            <a:r>
              <a:t>Calibrated on 10 VCT LAN stages with 156 verified pros.</a:t>
            </a:r>
          </a:p>
          <a:p>
            <a:pPr>
              <a:spcBef>
                <a:spcPts val="14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88% RECRUITMENT SPEEDUP</a:t>
            </a:r>
          </a:p>
          <a:p>
            <a:pPr>
              <a:spcBef>
                <a:spcPts val="200"/>
              </a:spcBef>
              <a:defRPr sz="1050">
                <a:solidFill>
                  <a:srgbClr val="8491A3"/>
                </a:solidFill>
                <a:latin typeface="Segoe UI"/>
              </a:defRPr>
            </a:pPr>
            <a:r>
              <a:t>Scouting cycle reduced from 18.5 hours to 2.2 hours.</a:t>
            </a:r>
          </a:p>
          <a:p>
            <a:pPr>
              <a:spcBef>
                <a:spcPts val="14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Bef>
                <a:spcPts val="200"/>
              </a:spcBef>
              <a:defRPr sz="1050">
                <a:solidFill>
                  <a:srgbClr val="8491A3"/>
                </a:solidFill>
                <a:latin typeface="Segoe UI"/>
              </a:defRPr>
            </a:pPr>
            <a:r>
              <a:t>112 passing pytest unit tests, 0 lint errors, live Railway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88152" y="1188720"/>
            <a:ext cx="5760720" cy="3977639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intelligenc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261872"/>
            <a:ext cx="5614416" cy="3831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88152" y="5303519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Segoe UI"/>
              </a:defRPr>
            </a:pPr>
            <a:r>
              <a:t>ScoutIQ Command Center // Live Vacancy Gap Matching</a:t>
            </a:r>
          </a:p>
          <a:p>
            <a:pPr>
              <a:defRPr sz="1000">
                <a:solidFill>
                  <a:srgbClr val="8491A3"/>
                </a:solidFill>
                <a:latin typeface="Segoe UI"/>
              </a:defRPr>
            </a:pPr>
            <a:r>
              <a:t>Deterministic candidate fit scoring benchmarked under $1.5M roster payroll caps.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1153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Segoe UI"/>
              </a:defRPr>
            </a:pPr>
            <a:r>
              <a:t>Traditional scouting misses the players who win rounds.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Segoe UI"/>
              </a:defRPr>
            </a:pPr>
            <a:r>
              <a:t>Raw combat statistics can hide tactical impact, role fit, and decision-making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480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Segoe UI"/>
              </a:defRPr>
            </a:pPr>
            <a:r>
              <a:t>1.  Combat-Stat Bias</a:t>
            </a:r>
          </a:p>
          <a:p>
            <a:pPr>
              <a:spcBef>
                <a:spcPts val="400"/>
              </a:spcBef>
              <a:defRPr sz="1050">
                <a:solidFill>
                  <a:srgbClr val="B4BECC"/>
                </a:solidFill>
                <a:latin typeface="Segoe UI"/>
              </a:defRPr>
            </a:pPr>
            <a:r>
              <a:t>Public leaderboards rank players solely on raw combat score (ACS) and K/D ratios. This systematically undervalues support anchors, controllers, and vocal shotcallers.</a:t>
            </a:r>
          </a:p>
          <a:p>
            <a:pPr>
              <a:spcBef>
                <a:spcPts val="1600"/>
              </a:spcBef>
              <a:defRPr sz="1300" b="1">
                <a:solidFill>
                  <a:srgbClr val="F5F7FA"/>
                </a:solidFill>
                <a:latin typeface="Segoe UI"/>
              </a:defRPr>
            </a:pPr>
            <a:r>
              <a:t>2.  Context Blindness</a:t>
            </a:r>
          </a:p>
          <a:p>
            <a:pPr>
              <a:spcBef>
                <a:spcPts val="400"/>
              </a:spcBef>
              <a:defRPr sz="1050">
                <a:solidFill>
                  <a:srgbClr val="B4BECC"/>
                </a:solidFill>
                <a:latin typeface="Segoe UI"/>
              </a:defRPr>
            </a:pPr>
            <a:r>
              <a:t>High kill counts often hide pad-stat behavior. In LAN matches, up to 42% of a frag-hunter's frags occur in already-lost save rounds (exit frags), carrying zero round-win equity.</a:t>
            </a:r>
          </a:p>
          <a:p>
            <a:pPr>
              <a:spcBef>
                <a:spcPts val="1600"/>
              </a:spcBef>
              <a:defRPr sz="1300" b="1">
                <a:solidFill>
                  <a:srgbClr val="F5F7FA"/>
                </a:solidFill>
                <a:latin typeface="Segoe UI"/>
              </a:defRPr>
            </a:pPr>
            <a:r>
              <a:t>3.  Recruitment &amp; Buyout Risk</a:t>
            </a:r>
          </a:p>
          <a:p>
            <a:pPr>
              <a:spcBef>
                <a:spcPts val="400"/>
              </a:spcBef>
              <a:defRPr sz="1050">
                <a:solidFill>
                  <a:srgbClr val="B4BECC"/>
                </a:solidFill>
                <a:latin typeface="Segoe UI"/>
              </a:defRPr>
            </a:pPr>
            <a:r>
              <a:t>Organizations spend ₹50 Lakhs to ₹1.5 Crores signing 'star' fraggers into support vacancies, leading to severe role collisions, benchings, and financial write-offs.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2392" y="1508760"/>
            <a:ext cx="6126480" cy="265176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layer_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544" y="1581912"/>
            <a:ext cx="5980176" cy="25054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22392" y="4325112"/>
            <a:ext cx="2971800" cy="164592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4434840"/>
            <a:ext cx="269748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16B72"/>
                </a:solidFill>
                <a:latin typeface="Segoe UI"/>
              </a:defRPr>
            </a:pPr>
            <a:r>
              <a:t>VOLTZ // STATISTICAL DECOY</a:t>
            </a:r>
          </a:p>
          <a:p>
            <a:pPr>
              <a:spcBef>
                <a:spcPts val="100"/>
              </a:spcBef>
              <a:defRPr sz="3200" b="1">
                <a:solidFill>
                  <a:srgbClr val="F16B72"/>
                </a:solidFill>
                <a:latin typeface="Segoe UI"/>
              </a:defRPr>
            </a:pPr>
            <a:r>
              <a:t>49.3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285 ACS (#1 in frags), but 42% non-impact exit frags. Fails to cover Sentinels' utility deficit.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7072" y="4325112"/>
            <a:ext cx="2971800" cy="164592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4434840"/>
            <a:ext cx="269748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B82E"/>
                </a:solidFill>
                <a:latin typeface="Segoe UI"/>
              </a:defRPr>
            </a:pPr>
            <a:r>
              <a:t>MIRAGE // OPTIMAL ROSTER FIT</a:t>
            </a:r>
          </a:p>
          <a:p>
            <a:pPr>
              <a:spcBef>
                <a:spcPts val="100"/>
              </a:spcBef>
              <a:defRPr sz="3200" b="1">
                <a:solidFill>
                  <a:srgbClr val="F5B82E"/>
                </a:solidFill>
                <a:latin typeface="Segoe UI"/>
              </a:defRPr>
            </a:pPr>
            <a:r>
              <a:t>74.8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80 Utility rating resolves the -35 deficit + Tier-1 IGL vocal calling. Directly lifts team win probability.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1153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Segoe UI"/>
              </a:defRPr>
            </a:pPr>
            <a:r>
              <a:t>A multi-layered intelligence pipeline from raw telemetry to roster 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Segoe UI"/>
              </a:defRPr>
            </a:pPr>
            <a:r>
              <a:t>Evaluating combat, situational decision-making, role contribution, and cognitive biometrics.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87752" cy="137160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23682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F7FA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Match Ingestion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Riot VCT &amp; Steam CS2 APIs + 1,600 LAN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508760"/>
            <a:ext cx="2587752" cy="137160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23682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5D5E8"/>
                </a:solidFill>
                <a:latin typeface="Segoe UI"/>
              </a:defRPr>
            </a:pPr>
            <a:r>
              <a:t>STAGE 02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Role Calibration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Normalizes by role; missing stats dropped, never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08760"/>
            <a:ext cx="2587752" cy="137160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00200"/>
            <a:ext cx="23682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B82E"/>
                </a:solidFill>
                <a:latin typeface="Segoe UI"/>
              </a:defRPr>
            </a:pPr>
            <a:r>
              <a:t>STAGE 03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Cognitive Lab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In-engine biometrics: 1560ms aim speed &amp; spatial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976" y="1508760"/>
            <a:ext cx="2587752" cy="137160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600200"/>
            <a:ext cx="23682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F7FA"/>
                </a:solidFill>
                <a:latin typeface="Segoe UI"/>
              </a:defRPr>
            </a:pPr>
            <a:r>
              <a:t>STAGE 04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Roster Decision</a:t>
            </a:r>
          </a:p>
          <a:p>
            <a:pPr>
              <a:spcBef>
                <a:spcPts val="2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PuLP ILP optimization under $1.5M payroll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10911535" cy="310896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intelligenc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6675120" cy="292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3291840"/>
            <a:ext cx="3749039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B82E"/>
                </a:solidFill>
                <a:latin typeface="Segoe UI"/>
              </a:defRPr>
            </a:pPr>
            <a:r>
              <a:t>Mathematical Guardrails</a:t>
            </a:r>
          </a:p>
          <a:p>
            <a:pPr>
              <a:spcBef>
                <a:spcPts val="800"/>
              </a:spcBef>
              <a:defRPr sz="1000" b="1">
                <a:solidFill>
                  <a:srgbClr val="F5F7FA"/>
                </a:solidFill>
                <a:latin typeface="Segoe UI"/>
              </a:defRPr>
            </a:pPr>
            <a:r>
              <a:t>Global Talent Index (GTI): </a:t>
            </a:r>
            <a:r>
              <a:rPr b="0">
                <a:solidFill>
                  <a:srgbClr val="8491A3"/>
                </a:solidFill>
              </a:rPr>
              <a:t>Directional weighted sum; duelists weighted for entry frags, controllers for utility &amp; survival.</a:t>
            </a:r>
          </a:p>
          <a:p>
            <a:pPr>
              <a:spcBef>
                <a:spcPts val="800"/>
              </a:spcBef>
              <a:defRPr sz="1000" b="1">
                <a:solidFill>
                  <a:srgbClr val="F5F7FA"/>
                </a:solidFill>
                <a:latin typeface="Segoe UI"/>
              </a:defRPr>
            </a:pPr>
            <a:r>
              <a:t>Sample-Size Discounting: </a:t>
            </a:r>
            <a:r>
              <a:rPr b="0">
                <a:solidFill>
                  <a:srgbClr val="8491A3"/>
                </a:solidFill>
              </a:rPr>
              <a:t>Candidates under 50 rounds are flagged Provisional. A short streak cannot outweigh 400 LAN rounds.</a:t>
            </a:r>
          </a:p>
          <a:p>
            <a:pPr>
              <a:spcBef>
                <a:spcPts val="800"/>
              </a:spcBef>
              <a:defRPr sz="1000" b="1">
                <a:solidFill>
                  <a:srgbClr val="F5F7FA"/>
                </a:solidFill>
                <a:latin typeface="Segoe UI"/>
              </a:defRPr>
            </a:pPr>
            <a:r>
              <a:t>Double-Analyst Guardrail: </a:t>
            </a:r>
            <a:r>
              <a:rPr b="0">
                <a:solidFill>
                  <a:srgbClr val="8491A3"/>
                </a:solidFill>
              </a:rPr>
              <a:t>Vocal IGL shotcalling scores remain locked until certified by two independent analyst annotations.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1153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Segoe UI"/>
              </a:defRPr>
            </a:pPr>
            <a:r>
              <a:t>Engineered for enterprise trust, auditability, and speed.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Segoe UI"/>
              </a:defRPr>
            </a:pPr>
            <a:r>
              <a:t>Async FastAPI microservices, dual publisher telemetry, and immutable cryptographic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20640" cy="107899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48463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F7FA"/>
                </a:solidFill>
                <a:latin typeface="Segoe UI"/>
              </a:defRPr>
            </a:pPr>
            <a:r>
              <a:t>LAYER 04 // CLIENT SURFACES</a:t>
            </a:r>
          </a:p>
          <a:p>
            <a:pPr>
              <a:spcBef>
                <a:spcPts val="3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React 18 + Vite, Tailwind CSS, Recharts 5-Axis Radars, WCAG AA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9192"/>
            <a:ext cx="5120640" cy="107899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8463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5D5E8"/>
                </a:solidFill>
                <a:latin typeface="Segoe UI"/>
              </a:defRPr>
            </a:pPr>
            <a:r>
              <a:t>LAYER 03 // SECURITY &amp; GATEWAY</a:t>
            </a:r>
          </a:p>
          <a:p>
            <a:pPr>
              <a:spcBef>
                <a:spcPts val="3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JWT with PBKDF2-HMAC-SHA256, Server Token Revocation, Rate Limiting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9624"/>
            <a:ext cx="5120640" cy="107899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59352"/>
            <a:ext cx="48463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B82E"/>
                </a:solidFill>
                <a:latin typeface="Segoe UI"/>
              </a:defRPr>
            </a:pPr>
            <a:r>
              <a:t>LAYER 02 // INTELLIGENCE &amp; SCORING</a:t>
            </a:r>
          </a:p>
          <a:p>
            <a:pPr>
              <a:spcBef>
                <a:spcPts val="3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FastAPI Python 3.12, PuLP ILP Roster Optimizer, Percentile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0056"/>
            <a:ext cx="5120640" cy="107899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29784"/>
            <a:ext cx="48463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F7FA"/>
                </a:solidFill>
                <a:latin typeface="Segoe UI"/>
              </a:defRPr>
            </a:pPr>
            <a:r>
              <a:t>LAYER 01 // DATA INGESTION &amp; STORAGE</a:t>
            </a:r>
          </a:p>
          <a:p>
            <a:pPr>
              <a:spcBef>
                <a:spcPts val="3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HenrikDev Riot API, Valve Steam CS2 API, SQLite WAL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08760"/>
            <a:ext cx="5608015" cy="201168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618488"/>
            <a:ext cx="5333695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B82E"/>
                </a:solidFill>
                <a:latin typeface="Segoe UI"/>
              </a:defRPr>
            </a:pPr>
            <a:r>
              <a:t>Data Integrity &amp; Governance Standards</a:t>
            </a:r>
          </a:p>
          <a:p>
            <a:pPr>
              <a:spcBef>
                <a:spcPts val="300"/>
              </a:spcBef>
              <a:defRPr sz="950" b="1">
                <a:solidFill>
                  <a:srgbClr val="F5F7FA"/>
                </a:solidFill>
                <a:latin typeface="Segoe UI"/>
              </a:defRPr>
            </a:pPr>
            <a:r>
              <a:t>SHA-256 Decision Snapshots: </a:t>
            </a:r>
            <a:r>
              <a:rPr b="0">
                <a:solidFill>
                  <a:srgbClr val="8491A3"/>
                </a:solidFill>
              </a:rPr>
              <a:t>Every recommendation run is sealed with a cryptographic hash for board auditing.</a:t>
            </a:r>
          </a:p>
          <a:p>
            <a:pPr>
              <a:spcBef>
                <a:spcPts val="300"/>
              </a:spcBef>
              <a:defRPr sz="950" b="1">
                <a:solidFill>
                  <a:srgbClr val="F5F7FA"/>
                </a:solidFill>
                <a:latin typeface="Segoe UI"/>
              </a:defRPr>
            </a:pPr>
            <a:r>
              <a:t>CSV Formula Injection Defense: </a:t>
            </a:r>
            <a:r>
              <a:rPr b="0">
                <a:solidFill>
                  <a:srgbClr val="8491A3"/>
                </a:solidFill>
              </a:rPr>
              <a:t>Sanitizes uploads by stripping =, @, +, - triggers to block spreadsheet attacks.</a:t>
            </a:r>
          </a:p>
          <a:p>
            <a:pPr>
              <a:spcBef>
                <a:spcPts val="300"/>
              </a:spcBef>
              <a:defRPr sz="950" b="1">
                <a:solidFill>
                  <a:srgbClr val="F5F7FA"/>
                </a:solidFill>
                <a:latin typeface="Segoe UI"/>
              </a:defRPr>
            </a:pPr>
            <a:r>
              <a:t>Graceful Dual-Telemetry Fallback: </a:t>
            </a:r>
            <a:r>
              <a:rPr b="0">
                <a:solidFill>
                  <a:srgbClr val="8491A3"/>
                </a:solidFill>
              </a:rPr>
              <a:t>Auto-falls back to verified offline LAN datasets if live publisher APIs throttle.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657600"/>
            <a:ext cx="5608015" cy="242316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player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3730752"/>
            <a:ext cx="5461711" cy="22768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1153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Segoe UI"/>
              </a:defRPr>
            </a:pPr>
            <a:r>
              <a:t>Aligning individual player potential with franchise roster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Segoe UI"/>
              </a:defRPr>
            </a:pPr>
            <a:r>
              <a:t>Counterfactual synergy simulation, cognitive hardware profiling, and multi-roster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461772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5D5E8"/>
                </a:solidFill>
                <a:latin typeface="Segoe UI"/>
              </a:defRPr>
            </a:pPr>
            <a:r>
              <a:t>Individual Biometrics &amp; Reflex Hardware</a:t>
            </a:r>
          </a:p>
          <a:p>
            <a:pPr>
              <a:spcBef>
                <a:spcPts val="2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In-engine standardized biometrics benchmark player hardware under pressure:</a:t>
            </a:r>
          </a:p>
          <a:p>
            <a:pPr>
              <a:spcBef>
                <a:spcPts val="200"/>
              </a:spcBef>
              <a:defRPr sz="950">
                <a:solidFill>
                  <a:srgbClr val="B4BECC"/>
                </a:solidFill>
                <a:latin typeface="Segoe UI"/>
              </a:defRPr>
            </a:pPr>
            <a:r>
              <a:t>• Aim Acquisition: 1560.43 ms targeting speed with 69.77% hit accuracy across 30 targets.</a:t>
            </a:r>
          </a:p>
          <a:p>
            <a:pPr>
              <a:spcBef>
                <a:spcPts val="200"/>
              </a:spcBef>
              <a:defRPr sz="950">
                <a:solidFill>
                  <a:srgbClr val="B4BECC"/>
                </a:solidFill>
                <a:latin typeface="Segoe UI"/>
              </a:defRPr>
            </a:pPr>
            <a:r>
              <a:t>• Reaction Latency: Visual stimulus click response measured across 5 scored trials.</a:t>
            </a:r>
          </a:p>
          <a:p>
            <a:pPr>
              <a:spcBef>
                <a:spcPts val="200"/>
              </a:spcBef>
              <a:defRPr sz="950">
                <a:solidFill>
                  <a:srgbClr val="B4BECC"/>
                </a:solidFill>
                <a:latin typeface="Segoe UI"/>
              </a:defRPr>
            </a:pPr>
            <a:r>
              <a:t>• Spatial Working Memory: Progressive 3x3 tactical grid pattern retention.</a:t>
            </a:r>
          </a:p>
        </p:txBody>
      </p:sp>
      <p:pic>
        <p:nvPicPr>
          <p:cNvPr id="7" name="Picture 6" descr="04_cognitive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27832"/>
            <a:ext cx="5029200" cy="27614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45352" y="1508760"/>
            <a:ext cx="5303520" cy="461772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18488"/>
            <a:ext cx="5029200" cy="4398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5B82E"/>
                </a:solidFill>
                <a:latin typeface="Segoe UI"/>
              </a:defRPr>
            </a:pPr>
            <a:r>
              <a:t>Franchise Roster Optimization &amp; Value</a:t>
            </a:r>
          </a:p>
          <a:p>
            <a:pPr>
              <a:spcBef>
                <a:spcPts val="200"/>
              </a:spcBef>
              <a:defRPr sz="1000">
                <a:solidFill>
                  <a:srgbClr val="8491A3"/>
                </a:solidFill>
                <a:latin typeface="Segoe UI"/>
              </a:defRPr>
            </a:pPr>
            <a:r>
              <a:t>Demonstrated operational improvements across competitive tournament rosters:</a:t>
            </a:r>
          </a:p>
          <a:p>
            <a:pPr>
              <a:spcBef>
                <a:spcPts val="900"/>
              </a:spcBef>
              <a:defRPr sz="1100" b="1">
                <a:solidFill>
                  <a:srgbClr val="F5F7FA"/>
                </a:solidFill>
                <a:latin typeface="Segoe UI"/>
              </a:defRPr>
            </a:pPr>
            <a:r>
              <a:t>88% TIME SAVINGS</a:t>
            </a:r>
          </a:p>
          <a:p>
            <a:pPr>
              <a:spcBef>
                <a:spcPts val="1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Scouting cycle reduced from 18.5 hours of manual sheets to 2.2 hours via automated gap matching.</a:t>
            </a:r>
          </a:p>
          <a:p>
            <a:pPr>
              <a:spcBef>
                <a:spcPts val="900"/>
              </a:spcBef>
              <a:defRPr sz="1100" b="1">
                <a:solidFill>
                  <a:srgbClr val="F5B82E"/>
                </a:solidFill>
                <a:latin typeface="Segoe UI"/>
              </a:defRPr>
            </a:pPr>
            <a:r>
              <a:t>+12.8% ECO CONVERSION</a:t>
            </a:r>
          </a:p>
          <a:p>
            <a:pPr>
              <a:spcBef>
                <a:spcPts val="1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Teams signing candidates who fill diagnosed utility deficits showed +12.8% higher conversion on low-buy rounds.</a:t>
            </a:r>
          </a:p>
          <a:p>
            <a:pPr>
              <a:spcBef>
                <a:spcPts val="900"/>
              </a:spcBef>
              <a:defRPr sz="1100" b="1">
                <a:solidFill>
                  <a:srgbClr val="F5F7FA"/>
                </a:solidFill>
                <a:latin typeface="Segoe UI"/>
              </a:defRPr>
            </a:pPr>
            <a:r>
              <a:t>ZERO DECOY RISK</a:t>
            </a:r>
          </a:p>
          <a:p>
            <a:pPr>
              <a:spcBef>
                <a:spcPts val="1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Mathematical filtering eliminates expensive buyout errors on pad-stat fraggers whose frags carry no win equity.</a:t>
            </a:r>
          </a:p>
          <a:p>
            <a:pPr>
              <a:spcBef>
                <a:spcPts val="900"/>
              </a:spcBef>
              <a:defRPr sz="1100" b="1">
                <a:solidFill>
                  <a:srgbClr val="F5F7FA"/>
                </a:solidFill>
                <a:latin typeface="Segoe UI"/>
              </a:defRPr>
            </a:pPr>
            <a:r>
              <a:t>GRASSROOTS EQUITY</a:t>
            </a:r>
          </a:p>
          <a:p>
            <a:pPr>
              <a:spcBef>
                <a:spcPts val="1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Democratizes talent discovery for Tier-2/3 athletes in Maharashtra and India whose support value is hidden on public 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1153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Segoe UI"/>
              </a:defRPr>
            </a:pPr>
            <a:r>
              <a:t>From production-ready MVP to the industry standard in esports 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Segoe UI"/>
              </a:defRPr>
            </a:pPr>
            <a:r>
              <a:t>Verified on 1,726 tournament matches, with a clear trajectory for computer-vision and mobile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87752" cy="292608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2313432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B82E"/>
                </a:solidFill>
                <a:latin typeface="Segoe UI"/>
              </a:defRPr>
            </a:pPr>
            <a:r>
              <a:t>CURRENT STATE</a:t>
            </a:r>
          </a:p>
          <a:p>
            <a:pPr>
              <a:spcBef>
                <a:spcPts val="3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Operational Solution</a:t>
            </a:r>
          </a:p>
          <a:p>
            <a:pPr>
              <a:spcBef>
                <a:spcPts val="6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• Full scoring &amp; gap matching engine</a:t>
            </a:r>
            <a:br/>
            <a:r>
              <a:t>• 1,726 VCT matches ingested</a:t>
            </a:r>
            <a:br/>
            <a:r>
              <a:t>• PuLP ILP salary cap optimizer</a:t>
            </a:r>
            <a:br/>
            <a:r>
              <a:t>• 112 passing pytest unit tests</a:t>
            </a:r>
            <a:br/>
            <a:r>
              <a:t>• Deployed live on Railway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508760"/>
            <a:ext cx="2587752" cy="292608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18488"/>
            <a:ext cx="2313432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F7FA"/>
                </a:solidFill>
                <a:latin typeface="Segoe UI"/>
              </a:defRPr>
            </a:pPr>
            <a:r>
              <a:t>Q1–Q2 2027</a:t>
            </a:r>
          </a:p>
          <a:p>
            <a:pPr>
              <a:spcBef>
                <a:spcPts val="3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Regional Pilot Cohort</a:t>
            </a:r>
          </a:p>
          <a:p>
            <a:pPr>
              <a:spcBef>
                <a:spcPts val="6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• 60-day closed beta with 3-5 collegiate &amp; semi-pro academies</a:t>
            </a:r>
            <a:br/>
            <a:r>
              <a:t>• Metric calibration on regional Indian LAN tournaments</a:t>
            </a:r>
            <a:br/>
            <a:r>
              <a:t>• Coach feedback iteration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08760"/>
            <a:ext cx="2587752" cy="292608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618488"/>
            <a:ext cx="2313432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5D5E8"/>
                </a:solidFill>
                <a:latin typeface="Segoe UI"/>
              </a:defRPr>
            </a:pPr>
            <a:r>
              <a:t>Q3 2027</a:t>
            </a:r>
          </a:p>
          <a:p>
            <a:pPr>
              <a:spcBef>
                <a:spcPts val="3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Broadcast CV Parser</a:t>
            </a:r>
          </a:p>
          <a:p>
            <a:pPr>
              <a:spcBef>
                <a:spcPts val="6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• Automated minimap computer vision for match broadcast VODs</a:t>
            </a:r>
            <a:br/>
            <a:r>
              <a:t>• Automated flash angle &amp; smoke micro-telemetry extraction</a:t>
            </a:r>
            <a:br/>
            <a:r>
              <a:t>• Eliminates manual sheet uploads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976" y="1508760"/>
            <a:ext cx="2587752" cy="2926080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618488"/>
            <a:ext cx="2313432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F7FA"/>
                </a:solidFill>
                <a:latin typeface="Segoe UI"/>
              </a:defRPr>
            </a:pPr>
            <a:r>
              <a:t>Q4 2027</a:t>
            </a:r>
          </a:p>
          <a:p>
            <a:pPr>
              <a:spcBef>
                <a:spcPts val="300"/>
              </a:spcBef>
              <a:defRPr sz="1200" b="1">
                <a:solidFill>
                  <a:srgbClr val="F5F7FA"/>
                </a:solidFill>
                <a:latin typeface="Segoe UI"/>
              </a:defRPr>
            </a:pPr>
            <a:r>
              <a:t>Contract API &amp; Mobile PWA</a:t>
            </a:r>
          </a:p>
          <a:p>
            <a:pPr>
              <a:spcBef>
                <a:spcPts val="600"/>
              </a:spcBef>
              <a:defRPr sz="950">
                <a:solidFill>
                  <a:srgbClr val="8491A3"/>
                </a:solidFill>
                <a:latin typeface="Segoe UI"/>
              </a:defRPr>
            </a:pPr>
            <a:r>
              <a:t>• Publisher contract database hooks with buyout alert feeds</a:t>
            </a:r>
            <a:br/>
            <a:r>
              <a:t>• Mobile PWA for live venue floor scouting by coaches</a:t>
            </a:r>
            <a:br/>
            <a:r>
              <a:t>• Multi-title expansion: BGMI / Dota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45152"/>
            <a:ext cx="10911535" cy="1417320"/>
          </a:xfrm>
          <a:prstGeom prst="roundRect">
            <a:avLst/>
          </a:prstGeom>
          <a:solidFill>
            <a:srgbClr val="222A38"/>
          </a:solidFill>
          <a:ln w="12700">
            <a:solidFill>
              <a:srgbClr val="30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28032"/>
            <a:ext cx="105457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5B82E"/>
                </a:solidFill>
                <a:latin typeface="Segoe UI"/>
              </a:defRPr>
            </a:pPr>
            <a:r>
              <a:t>“Scout beyond the scoreboard.”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  <a:latin typeface="Segoe UI"/>
              </a:defRPr>
            </a:pPr>
            <a:r>
              <a:t>Golden Snitch replaces subjective guesswork with objective, auditable decision intelligence built around real roster needs.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27648"/>
            <a:ext cx="109115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8491A3"/>
                </a:solidFill>
                <a:latin typeface="Segoe UI"/>
              </a:defRPr>
            </a:pPr>
            <a:r>
              <a:t>Golden Snitch (ScoutIQ)  |  Team Logic Legend  |  Live Platform: https://goldensnitch.up.railway.app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
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1616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812800"/>
            <a:ext cx="10566400" cy="474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400" dirty="0">
                <a:solidFill>
                  <a:srgbClr val="9DB8E8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4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592580"/>
            <a:ext cx="10566400" cy="4452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9DB8E8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812800"/>
            <a:ext cx="10566400" cy="474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400" dirty="0">
                <a:solidFill>
                  <a:srgbClr val="9DB8E8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4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592580"/>
            <a:ext cx="10566400" cy="4452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9DB8E8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6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6FB1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Triwizathon · Problem Statement 4 · Team Logic Legend</a:t>
            </a:r>
            <a:endParaRPr lang="en-US" sz="15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206500"/>
            <a:ext cx="10883392" cy="850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500"/>
              </a:lnSpc>
              <a:buNone/>
            </a:pPr>
            <a:r>
              <a:rPr lang="en-US" sz="6500" b="1" i="0" dirty="0">
                <a:solidFill>
                  <a:srgbClr val="9DB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Golden Snitch </a:t>
            </a:r>
            <a:r>
              <a:rPr lang="en-US" sz="6500" b="1" i="0" dirty="0">
                <a:solidFill>
                  <a:srgbClr val="A77B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(ScoutIQ)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812800" y="2159000"/>
            <a:ext cx="10883392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60"/>
              </a:lnSpc>
              <a:buNone/>
            </a:pPr>
            <a:r>
              <a:rPr lang="en-US" sz="1900" dirty="0">
                <a:solidFill>
                  <a:srgbClr val="A3A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Roster-first esports scouting and multi-roster intelligence for VALORANT and CS2</a:t>
            </a:r>
            <a:endParaRPr lang="en-US" sz="1900" dirty="0"/>
          </a:p>
        </p:txBody>
      </p:sp>
      <p:pic>
        <p:nvPicPr>
          <p:cNvPr id="5" name="Image 0" descr="Pipeline: roster gap, role engine, optimizer, audit snapshot">    </p:cNvPr>
          <p:cNvPicPr>
            <a:picLocks noChangeAspect="1"/>
          </p:cNvPicPr>
          <p:nvPr/>
        </p:nvPicPr>
        <p:blipFill>
          <a:blip r:embed="rId1"/>
          <a:srcRect l="0" r="0" t="-14" b="-14"/>
          <a:stretch/>
        </p:blipFill>
        <p:spPr>
          <a:xfrm>
            <a:off x="812800" y="4381500"/>
            <a:ext cx="10566400" cy="1460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6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500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740"/>
              </a:lnSpc>
              <a:buNone/>
            </a:pPr>
            <a:r>
              <a:rPr lang="en-US" sz="3400" b="1" i="0" dirty="0">
                <a:solidFill>
                  <a:srgbClr val="9DB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esports scouting breaks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12800" y="1465580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A3A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failures lead to an expensive signing</a:t>
            </a:r>
            <a:endParaRPr lang="en-US" sz="1500" dirty="0"/>
          </a:p>
        </p:txBody>
      </p:sp>
      <p:pic>
        <p:nvPicPr>
          <p:cNvPr id="4" name="Image 0" descr="Four failures leading to a costly bad signing">    </p:cNvPr>
          <p:cNvPicPr>
            <a:picLocks noChangeAspect="1"/>
          </p:cNvPicPr>
          <p:nvPr/>
        </p:nvPicPr>
        <p:blipFill>
          <a:blip r:embed="rId1"/>
          <a:srcRect l="0" r="0" t="-17" b="-17"/>
          <a:stretch/>
        </p:blipFill>
        <p:spPr>
          <a:xfrm>
            <a:off x="812800" y="1910080"/>
            <a:ext cx="10566400" cy="3556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12800" y="6238241"/>
            <a:ext cx="3313843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A3A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Evidence: 49.3 vs 74.8 roster-fit anomaly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616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500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740"/>
              </a:lnSpc>
              <a:buNone/>
            </a:pPr>
            <a:r>
              <a:rPr lang="en-US" sz="3400" b="1" i="0" dirty="0">
                <a:solidFill>
                  <a:srgbClr val="9DB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Roster-first scouting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12800" y="1465580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A3A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"who has the best stats?" to "who fixes our weakness?"</a:t>
            </a:r>
            <a:endParaRPr lang="en-US" sz="1500" dirty="0"/>
          </a:p>
        </p:txBody>
      </p:sp>
      <p:pic>
        <p:nvPicPr>
          <p:cNvPr id="4" name="Image 0" descr="Traditional flow versus roster-first flow">    </p:cNvPr>
          <p:cNvPicPr>
            <a:picLocks noChangeAspect="1"/>
          </p:cNvPicPr>
          <p:nvPr/>
        </p:nvPicPr>
        <p:blipFill>
          <a:blip r:embed="rId1"/>
          <a:srcRect l="0" r="0" t="-17" b="-17"/>
          <a:stretch/>
        </p:blipFill>
        <p:spPr>
          <a:xfrm>
            <a:off x="812800" y="1910080"/>
            <a:ext cx="10566400" cy="3556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12800" y="6238241"/>
            <a:ext cx="6060948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A3A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scoring · analyst-certified IGL guardrail · immutable decisions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6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500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740"/>
              </a:lnSpc>
              <a:buNone/>
            </a:pPr>
            <a:r>
              <a:rPr lang="en-US" sz="3400" b="1" i="0" dirty="0">
                <a:solidFill>
                  <a:srgbClr val="9DB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12800" y="1465580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A3A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Async FastAPI backend behind a secured, role-aware gateway</a:t>
            </a:r>
            <a:endParaRPr lang="en-US" sz="1500" dirty="0"/>
          </a:p>
        </p:txBody>
      </p:sp>
      <p:pic>
        <p:nvPicPr>
          <p:cNvPr id="4" name="Image 0" descr="Four layer architecture: client, gateway, backend, data">    </p:cNvPr>
          <p:cNvPicPr>
            <a:picLocks noChangeAspect="1"/>
          </p:cNvPicPr>
          <p:nvPr/>
        </p:nvPicPr>
        <p:blipFill>
          <a:blip r:embed="rId1"/>
          <a:srcRect l="-6" r="-6" t="0" b="0"/>
          <a:stretch/>
        </p:blipFill>
        <p:spPr>
          <a:xfrm>
            <a:off x="812800" y="1910080"/>
            <a:ext cx="10566400" cy="34925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12800" y="6238239"/>
            <a:ext cx="4513136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A3A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3.12 · FastAPI · Pydantic v2 · React 18 · SQLite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616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500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740"/>
              </a:lnSpc>
              <a:buNone/>
            </a:pPr>
            <a:r>
              <a:rPr lang="en-US" sz="3400" b="1" i="0" dirty="0">
                <a:solidFill>
                  <a:srgbClr val="9DB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Mathematical engine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12800" y="1465582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A3A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deterministic pipeline from raw stats to the optimal roster</a:t>
            </a:r>
            <a:endParaRPr lang="en-US" sz="1500" dirty="0"/>
          </a:p>
        </p:txBody>
      </p:sp>
      <p:pic>
        <p:nvPicPr>
          <p:cNvPr id="4" name="Image 0" descr="Scoring core feeding fit analysis and optimization">    </p:cNvPr>
          <p:cNvPicPr>
            <a:picLocks noChangeAspect="1"/>
          </p:cNvPicPr>
          <p:nvPr/>
        </p:nvPicPr>
        <p:blipFill>
          <a:blip r:embed="rId1"/>
          <a:srcRect l="-43" r="-43" t="0" b="0"/>
          <a:stretch/>
        </p:blipFill>
        <p:spPr>
          <a:xfrm>
            <a:off x="812800" y="1910082"/>
            <a:ext cx="10566400" cy="2794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12800" y="6238239"/>
            <a:ext cx="4903184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A3A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GTI = Global Talent Index · ILP = integer linear programming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16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500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740"/>
              </a:lnSpc>
              <a:buNone/>
            </a:pPr>
            <a:r>
              <a:rPr lang="en-US" sz="3400" b="1" i="0" dirty="0">
                <a:solidFill>
                  <a:srgbClr val="9DB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core innovations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12800" y="1465582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A3A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waterfall sums exactly to the decision delta</a:t>
            </a:r>
            <a:endParaRPr lang="en-US" sz="1500" dirty="0"/>
          </a:p>
        </p:txBody>
      </p:sp>
      <p:pic>
        <p:nvPicPr>
          <p:cNvPr id="4" name="Image 0" descr="Waterfall chart of Candidate A over B and four innovation modules">    </p:cNvPr>
          <p:cNvPicPr>
            <a:picLocks noChangeAspect="1"/>
          </p:cNvPicPr>
          <p:nvPr/>
        </p:nvPicPr>
        <p:blipFill>
          <a:blip r:embed="rId1"/>
          <a:srcRect l="-29" r="-29" t="0" b="0"/>
          <a:stretch/>
        </p:blipFill>
        <p:spPr>
          <a:xfrm>
            <a:off x="812800" y="1910082"/>
            <a:ext cx="10566400" cy="3429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12800" y="6238239"/>
            <a:ext cx="6508719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A3A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Waterfall values: example from the project report; net is the sum of the four parts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16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500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740"/>
              </a:lnSpc>
              <a:buNone/>
            </a:pPr>
            <a:r>
              <a:rPr lang="en-US" sz="3400" b="1" i="0" dirty="0">
                <a:solidFill>
                  <a:srgbClr val="9DB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Validation, impact and roadmap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12800" y="1465582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A3A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from 10 VCT LAN matches, and the next three quarters</a:t>
            </a:r>
            <a:endParaRPr lang="en-US" sz="1500" dirty="0"/>
          </a:p>
        </p:txBody>
      </p:sp>
      <p:pic>
        <p:nvPicPr>
          <p:cNvPr id="4" name="Image 0" descr="Scouting hours chart, validation stats and roadmap">    </p:cNvPr>
          <p:cNvPicPr>
            <a:picLocks noChangeAspect="1"/>
          </p:cNvPicPr>
          <p:nvPr/>
        </p:nvPicPr>
        <p:blipFill>
          <a:blip r:embed="rId1"/>
          <a:srcRect l="0" r="0" t="-17" b="-17"/>
          <a:stretch/>
        </p:blipFill>
        <p:spPr>
          <a:xfrm>
            <a:off x="812800" y="1910082"/>
            <a:ext cx="10566400" cy="3556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12800" y="6238239"/>
            <a:ext cx="3029236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A3A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Figures as stated in the project report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olden Snitch (ScoutIQ) – Pitch Deck">
  <a:themeElements>
    <a:clrScheme name="Golden Snitch (ScoutIQ) – Pitch Deck">
      <a:dk1>
        <a:srgbClr val="161616"/>
      </a:dk1>
      <a:lt1>
        <a:srgbClr val="9DB8E8"/>
      </a:lt1>
      <a:dk2>
        <a:srgbClr val="24262B"/>
      </a:dk2>
      <a:lt2>
        <a:srgbClr val="7B90B4"/>
      </a:lt2>
      <a:accent1>
        <a:srgbClr val="6FB1E8"/>
      </a:accent1>
      <a:accent2>
        <a:srgbClr val="A3A3A3"/>
      </a:accent2>
      <a:accent3>
        <a:srgbClr val="9AA0A6"/>
      </a:accent3>
      <a:accent4>
        <a:srgbClr val="677794"/>
      </a:accent4>
      <a:accent5>
        <a:srgbClr val="535F75"/>
      </a:accent5>
      <a:accent6>
        <a:srgbClr val="3F4755"/>
      </a:accent6>
      <a:hlink>
        <a:srgbClr val="0563C1"/>
      </a:hlink>
      <a:folHlink>
        <a:srgbClr val="954F72"/>
      </a:folHlink>
    </a:clrScheme>
    <a:fontScheme name="Golden Snitch (ScoutIQ) – Pitch Deck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Golden Snitch (ScoutIQ) – Pitch Deck</dc:title>
  <dc:subject/>
  <dc:creator/>
  <cp:lastModifiedBy/>
  <cp:revision>1</cp:revision>
  <dcterms:created xsi:type="dcterms:W3CDTF">2026-10-24T23:44:21Z</dcterms:created>
  <dcterms:modified xsi:type="dcterms:W3CDTF">2026-10-24T23:44:21Z</dcterms:modified>
</cp:coreProperties>
</file>
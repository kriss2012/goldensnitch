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F2937"/>
                </a:solidFill>
                <a:latin typeface="Arial"/>
              </a:defRPr>
            </a:pPr>
            <a:r>
              <a:rPr sz="1600" b="0" i="0" u="none" strike="noStrike">
                <a:solidFill>
                  <a:srgbClr val="1F2937"/>
                </a:solidFill>
                <a:latin typeface="Arial"/>
              </a:rPr>
              <a:t>Average scouting cycle (hours)</a:t>
            </a:r>
          </a:p>
        </c:rich>
      </c:tx>
      <c:overlay val="0"/>
    </c:title>
    <c:autoTitleDeleted val="0"/>
    <c:plotArea>
      <c:layout/>
      <c:barChart>
        <c:barDir val="col"/>
        <c:grouping val="clustered"/>
        <c:varyColors val="0"/>
        <c:ser>
          <c:idx val="0"/>
          <c:order val="0"/>
          <c:tx>
            <c:strRef>
              <c:f>Sheet1!$B$1</c:f>
              <c:strCache>
                <c:ptCount val="1"/>
                <c:pt idx="0">
                  <c:v>Hours per scouting cycle</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F3D7-4644-B2DE-B69BD5FF010D}"/>
              </c:ext>
            </c:extLst>
          </c:dPt>
          <c:dPt>
            <c:idx val="1"/>
            <c:invertIfNegative val="0"/>
            <c:bubble3D val="0"/>
            <c:spPr>
              <a:solidFill>
                <a:srgbClr val="B7791F"/>
              </a:solidFill>
              <a:effectLst/>
            </c:spPr>
            <c:extLst>
              <c:ext xmlns:c16="http://schemas.microsoft.com/office/drawing/2014/chart" uri="{C3380CC4-5D6E-409C-BE32-E72D297353CC}">
                <c16:uniqueId val="{00000003-F3D7-4644-B2DE-B69BD5FF010D}"/>
              </c:ext>
            </c:extLst>
          </c:dPt>
          <c:dPt>
            <c:idx val="2"/>
            <c:invertIfNegative val="0"/>
            <c:bubble3D val="0"/>
            <c:spPr>
              <a:solidFill>
                <a:srgbClr val="2E8B57"/>
              </a:solidFill>
              <a:effectLst/>
            </c:spPr>
            <c:extLst>
              <c:ext xmlns:c16="http://schemas.microsoft.com/office/drawing/2014/chart" uri="{C3380CC4-5D6E-409C-BE32-E72D297353CC}">
                <c16:uniqueId val="{00000005-F3D7-4644-B2DE-B69BD5FF010D}"/>
              </c:ext>
            </c:extLst>
          </c:dPt>
          <c:dLbls>
            <c:numFmt formatCode="0.0" sourceLinked="0"/>
            <c:spPr>
              <a:noFill/>
              <a:ln>
                <a:noFill/>
              </a:ln>
              <a:effectLst/>
            </c:spPr>
            <c:txPr>
              <a:bodyPr/>
              <a:lstStyle/>
              <a:p>
                <a:pPr>
                  <a:defRPr sz="14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Spreadsheets</c:v>
                </c:pt>
                <c:pt idx="1">
                  <c:v>VLR / HLTV</c:v>
                </c:pt>
                <c:pt idx="2">
                  <c:v>Golden Snitch</c:v>
                </c:pt>
              </c:strCache>
            </c:strRef>
          </c:cat>
          <c:val>
            <c:numRef>
              <c:f>Sheet1!$B$2:$B$4</c:f>
              <c:numCache>
                <c:formatCode>General</c:formatCode>
                <c:ptCount val="3"/>
                <c:pt idx="0">
                  <c:v>18.5</c:v>
                </c:pt>
                <c:pt idx="1">
                  <c:v>12</c:v>
                </c:pt>
                <c:pt idx="2">
                  <c:v>2.2000000000000002</c:v>
                </c:pt>
              </c:numCache>
            </c:numRef>
          </c:val>
          <c:extLst>
            <c:ext xmlns:c16="http://schemas.microsoft.com/office/drawing/2014/chart" uri="{C3380CC4-5D6E-409C-BE32-E72D297353CC}">
              <c16:uniqueId val="{00000006-F3D7-4644-B2DE-B69BD5FF010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811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5080"/>
            <a:ext cx="12188952" cy="502920"/>
          </a:xfrm>
          <a:prstGeom prst="rect">
            <a:avLst/>
          </a:prstGeom>
          <a:solidFill>
            <a:srgbClr val="0070C0"/>
          </a:solidFill>
          <a:ln/>
        </p:spPr>
        <p:txBody>
          <a:bodyPr/>
          <a:lstStyle/>
          <a:p>
            <a:endParaRPr lang="en-US"/>
          </a:p>
        </p:txBody>
      </p:sp>
      <p:pic>
        <p:nvPicPr>
          <p:cNvPr id="3" name="Image 0" descr="/tmp/logo.png"/>
          <p:cNvPicPr>
            <a:picLocks noChangeAspect="1"/>
          </p:cNvPicPr>
          <p:nvPr/>
        </p:nvPicPr>
        <p:blipFill>
          <a:blip r:embed="rId2"/>
          <a:stretch>
            <a:fillRect/>
          </a:stretch>
        </p:blipFill>
        <p:spPr>
          <a:xfrm>
            <a:off x="310896" y="164592"/>
            <a:ext cx="822960" cy="822960"/>
          </a:xfrm>
          <a:prstGeom prst="rect">
            <a:avLst/>
          </a:prstGeom>
        </p:spPr>
      </p:pic>
      <p:sp>
        <p:nvSpPr>
          <p:cNvPr id="4" name="Text 1"/>
          <p:cNvSpPr/>
          <p:nvPr/>
        </p:nvSpPr>
        <p:spPr>
          <a:xfrm>
            <a:off x="457200" y="6382512"/>
            <a:ext cx="7315200" cy="4572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Golden Snitch (ScoutIQ) | Team Logic Legend</a:t>
            </a:r>
            <a:endParaRPr lang="en-US" sz="12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280160" y="182880"/>
            <a:ext cx="9601200" cy="457200"/>
          </a:xfrm>
          <a:prstGeom prst="rect">
            <a:avLst/>
          </a:prstGeom>
          <a:noFill/>
          <a:ln/>
        </p:spPr>
        <p:txBody>
          <a:bodyPr wrap="square" rtlCol="0" anchor="ctr"/>
          <a:lstStyle/>
          <a:p>
            <a:pPr marL="0" indent="0" algn="ctr">
              <a:buNone/>
            </a:pPr>
            <a:r>
              <a:rPr lang="en-US" sz="2000" b="1" dirty="0">
                <a:solidFill>
                  <a:srgbClr val="0070C0"/>
                </a:solidFill>
                <a:latin typeface="Times New Roman" pitchFamily="34" charset="0"/>
                <a:ea typeface="Times New Roman" pitchFamily="34" charset="-122"/>
                <a:cs typeface="Times New Roman" pitchFamily="34" charset="-120"/>
              </a:rPr>
              <a:t>TRIWIZATHON — PROBLEM STATEMENT 4</a:t>
            </a:r>
            <a:endParaRPr lang="en-US" sz="2000" dirty="0"/>
          </a:p>
        </p:txBody>
      </p:sp>
      <p:sp>
        <p:nvSpPr>
          <p:cNvPr id="3" name="Text 1"/>
          <p:cNvSpPr txBox="1"/>
          <p:nvPr/>
        </p:nvSpPr>
        <p:spPr>
          <a:xfrm>
            <a:off x="1280160" y="640080"/>
            <a:ext cx="9601200" cy="731520"/>
          </a:xfrm>
          <a:prstGeom prst="rect">
            <a:avLst/>
          </a:prstGeom>
          <a:noFill/>
          <a:ln/>
        </p:spPr>
        <p:txBody>
          <a:bodyPr wrap="square" rtlCol="0" anchor="ctr"/>
          <a:lstStyle/>
          <a:p>
            <a:pPr marL="0" indent="0" algn="ctr">
              <a:buNone/>
            </a:pPr>
            <a:r>
              <a:rPr lang="en-US" sz="3800" b="1" dirty="0">
                <a:solidFill>
                  <a:schemeClr val="accent4">
                    <a:lumMod val="60000"/>
                    <a:lumOff val="40000"/>
                  </a:schemeClr>
                </a:solidFill>
                <a:latin typeface="Times New Roman" pitchFamily="34" charset="0"/>
                <a:ea typeface="Times New Roman" pitchFamily="34" charset="-122"/>
                <a:cs typeface="Times New Roman" pitchFamily="34" charset="-120"/>
              </a:rPr>
              <a:t>GOLDEN SNITCH </a:t>
            </a:r>
            <a:endParaRPr lang="en-US" sz="3800" dirty="0">
              <a:solidFill>
                <a:schemeClr val="accent4">
                  <a:lumMod val="60000"/>
                  <a:lumOff val="40000"/>
                </a:schemeClr>
              </a:solidFill>
            </a:endParaRPr>
          </a:p>
        </p:txBody>
      </p:sp>
      <p:sp>
        <p:nvSpPr>
          <p:cNvPr id="4" name="Text 2"/>
          <p:cNvSpPr txBox="1"/>
          <p:nvPr/>
        </p:nvSpPr>
        <p:spPr>
          <a:xfrm>
            <a:off x="548640" y="1554480"/>
            <a:ext cx="5852160" cy="4937760"/>
          </a:xfrm>
          <a:prstGeom prst="rect">
            <a:avLst/>
          </a:prstGeom>
          <a:noFill/>
          <a:ln/>
        </p:spPr>
        <p:txBody>
          <a:bodyPr wrap="square" lIns="0" tIns="0" rIns="0" bIns="0" rtlCol="0" anchor="t"/>
          <a:lstStyle/>
          <a:p>
            <a:pPr marL="0" indent="0">
              <a:buNone/>
            </a:pPr>
            <a:r>
              <a:rPr lang="en-US" sz="2400" b="1" dirty="0">
                <a:latin typeface="Calibri" pitchFamily="34" charset="0"/>
                <a:ea typeface="Calibri" pitchFamily="34" charset="-122"/>
                <a:cs typeface="Calibri" pitchFamily="34" charset="-120"/>
              </a:rPr>
              <a:t>Project</a:t>
            </a:r>
            <a:endParaRPr lang="en-US" sz="2400" b="1" dirty="0"/>
          </a:p>
          <a:p>
            <a:pPr lvl="1"/>
            <a:r>
              <a:rPr lang="en-US" dirty="0">
                <a:solidFill>
                  <a:srgbClr val="1F2937"/>
                </a:solidFill>
                <a:latin typeface="Calibri" pitchFamily="34" charset="0"/>
                <a:ea typeface="Calibri" pitchFamily="34" charset="-122"/>
                <a:cs typeface="Calibri" pitchFamily="34" charset="-120"/>
              </a:rPr>
              <a:t>Esports Scouting &amp; Multi-Roster Intelligence Platform</a:t>
            </a:r>
            <a:endParaRPr lang="en-US" sz="2000" dirty="0"/>
          </a:p>
          <a:p>
            <a:pPr marL="0" indent="0">
              <a:spcBef>
                <a:spcPts val="800"/>
              </a:spcBef>
              <a:buNone/>
            </a:pPr>
            <a:r>
              <a:rPr lang="en-US" sz="2400" b="1" dirty="0">
                <a:latin typeface="Calibri" pitchFamily="34" charset="0"/>
                <a:ea typeface="Calibri" pitchFamily="34" charset="-122"/>
                <a:cs typeface="Calibri" pitchFamily="34" charset="-120"/>
              </a:rPr>
              <a:t>What it does</a:t>
            </a:r>
            <a:endParaRPr lang="en-US" sz="2400" b="1" dirty="0"/>
          </a:p>
          <a:p>
            <a:pPr lvl="1"/>
            <a:r>
              <a:rPr lang="en-US" dirty="0">
                <a:solidFill>
                  <a:srgbClr val="1F2937"/>
                </a:solidFill>
                <a:latin typeface="Calibri" pitchFamily="34" charset="0"/>
                <a:ea typeface="Calibri" pitchFamily="34" charset="-122"/>
                <a:cs typeface="Calibri" pitchFamily="34" charset="-120"/>
              </a:rPr>
              <a:t>An enterprise talent-operations platform that centralizes scouting, evaluation and contract decisions across VALORANT (VCT) and Counter-Strike 2 (BLAST / Major).</a:t>
            </a:r>
            <a:endParaRPr lang="en-US" sz="2000" dirty="0"/>
          </a:p>
          <a:p>
            <a:pPr marL="0" indent="0">
              <a:spcBef>
                <a:spcPts val="800"/>
              </a:spcBef>
              <a:buNone/>
            </a:pPr>
            <a:r>
              <a:rPr lang="en-US" sz="2400" b="1" dirty="0">
                <a:latin typeface="Calibri" pitchFamily="34" charset="0"/>
                <a:ea typeface="Calibri" pitchFamily="34" charset="-122"/>
                <a:cs typeface="Calibri" pitchFamily="34" charset="-120"/>
              </a:rPr>
              <a:t>Core idea</a:t>
            </a:r>
            <a:endParaRPr lang="en-US" sz="2400" b="1" dirty="0"/>
          </a:p>
          <a:p>
            <a:pPr lvl="1"/>
            <a:r>
              <a:rPr lang="en-US" dirty="0">
                <a:solidFill>
                  <a:srgbClr val="1F2937"/>
                </a:solidFill>
                <a:latin typeface="Calibri" pitchFamily="34" charset="0"/>
                <a:ea typeface="Calibri" pitchFamily="34" charset="-122"/>
                <a:cs typeface="Calibri" pitchFamily="34" charset="-120"/>
              </a:rPr>
              <a:t>Scout for the roster’s weakness, not for the highest K/D. Every candidate is scored by how well they fix a diagnosed tactical gap, and every decision is sealed in an auditable record.</a:t>
            </a:r>
            <a:endParaRPr lang="en-US" sz="2000" dirty="0"/>
          </a:p>
          <a:p>
            <a:pPr marL="0" indent="0">
              <a:spcBef>
                <a:spcPts val="800"/>
              </a:spcBef>
              <a:buNone/>
            </a:pPr>
            <a:r>
              <a:rPr lang="en-US" sz="2400" b="1" dirty="0">
                <a:latin typeface="Calibri" pitchFamily="34" charset="0"/>
                <a:ea typeface="Calibri" pitchFamily="34" charset="-122"/>
                <a:cs typeface="Calibri" pitchFamily="34" charset="-120"/>
              </a:rPr>
              <a:t>Team</a:t>
            </a:r>
            <a:endParaRPr lang="en-US" sz="2400" b="1" dirty="0"/>
          </a:p>
          <a:p>
            <a:pPr lvl="1"/>
            <a:r>
              <a:rPr lang="en-US" dirty="0">
                <a:solidFill>
                  <a:srgbClr val="1F2937"/>
                </a:solidFill>
                <a:latin typeface="Calibri" pitchFamily="34" charset="0"/>
                <a:ea typeface="Calibri" pitchFamily="34" charset="-122"/>
                <a:cs typeface="Calibri" pitchFamily="34" charset="-120"/>
              </a:rPr>
              <a:t>Logic Legend  |  Product </a:t>
            </a:r>
            <a:r>
              <a:rPr lang="en-US">
                <a:solidFill>
                  <a:srgbClr val="1F2937"/>
                </a:solidFill>
                <a:latin typeface="Calibri" pitchFamily="34" charset="0"/>
                <a:ea typeface="Calibri" pitchFamily="34" charset="-122"/>
                <a:cs typeface="Calibri" pitchFamily="34" charset="-120"/>
              </a:rPr>
              <a:t>version 1.0.0</a:t>
            </a:r>
            <a:endParaRPr lang="en-US" sz="2000" dirty="0"/>
          </a:p>
        </p:txBody>
      </p:sp>
      <p:sp>
        <p:nvSpPr>
          <p:cNvPr id="5" name="Shape 3"/>
          <p:cNvSpPr/>
          <p:nvPr/>
        </p:nvSpPr>
        <p:spPr>
          <a:xfrm>
            <a:off x="6766560" y="1554480"/>
            <a:ext cx="4937760" cy="4480560"/>
          </a:xfrm>
          <a:prstGeom prst="roundRect">
            <a:avLst>
              <a:gd name="adj" fmla="val 1633"/>
            </a:avLst>
          </a:prstGeom>
          <a:solidFill>
            <a:srgbClr val="F3ECF9"/>
          </a:solidFill>
          <a:ln w="19050">
            <a:solidFill>
              <a:srgbClr val="7030A0"/>
            </a:solidFill>
            <a:prstDash val="solid"/>
          </a:ln>
        </p:spPr>
        <p:txBody>
          <a:bodyPr/>
          <a:lstStyle/>
          <a:p>
            <a:endParaRPr lang="en-US"/>
          </a:p>
        </p:txBody>
      </p:sp>
      <p:sp>
        <p:nvSpPr>
          <p:cNvPr id="6" name="Text 4"/>
          <p:cNvSpPr txBox="1"/>
          <p:nvPr/>
        </p:nvSpPr>
        <p:spPr>
          <a:xfrm>
            <a:off x="6858000" y="1591056"/>
            <a:ext cx="4754880" cy="27432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Platform flow</a:t>
            </a:r>
            <a:endParaRPr lang="en-US" sz="1200" dirty="0"/>
          </a:p>
        </p:txBody>
      </p:sp>
      <p:sp>
        <p:nvSpPr>
          <p:cNvPr id="7" name="Shape 5"/>
          <p:cNvSpPr/>
          <p:nvPr/>
        </p:nvSpPr>
        <p:spPr>
          <a:xfrm>
            <a:off x="7223760" y="196596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8" name="Text 6"/>
          <p:cNvSpPr txBox="1"/>
          <p:nvPr/>
        </p:nvSpPr>
        <p:spPr>
          <a:xfrm>
            <a:off x="7223760" y="1965960"/>
            <a:ext cx="4023360" cy="73152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1. Roster gap diagnosis</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Find the weak slot</a:t>
            </a:r>
            <a:endParaRPr lang="en-US" sz="1400" dirty="0"/>
          </a:p>
        </p:txBody>
      </p:sp>
      <p:sp>
        <p:nvSpPr>
          <p:cNvPr id="9" name="Shape 7"/>
          <p:cNvSpPr/>
          <p:nvPr/>
        </p:nvSpPr>
        <p:spPr>
          <a:xfrm>
            <a:off x="9235440" y="2697480"/>
            <a:ext cx="0" cy="274320"/>
          </a:xfrm>
          <a:prstGeom prst="line">
            <a:avLst/>
          </a:prstGeom>
          <a:noFill/>
          <a:ln w="25400">
            <a:solidFill>
              <a:srgbClr val="7030A0"/>
            </a:solidFill>
            <a:prstDash val="solid"/>
            <a:tailEnd type="triangle"/>
          </a:ln>
        </p:spPr>
        <p:txBody>
          <a:bodyPr/>
          <a:lstStyle/>
          <a:p>
            <a:endParaRPr lang="en-US"/>
          </a:p>
        </p:txBody>
      </p:sp>
      <p:sp>
        <p:nvSpPr>
          <p:cNvPr id="10" name="Shape 8"/>
          <p:cNvSpPr/>
          <p:nvPr/>
        </p:nvSpPr>
        <p:spPr>
          <a:xfrm>
            <a:off x="7223760" y="297180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11" name="Text 9"/>
          <p:cNvSpPr txBox="1"/>
          <p:nvPr/>
        </p:nvSpPr>
        <p:spPr>
          <a:xfrm>
            <a:off x="7223760" y="2971800"/>
            <a:ext cx="4023360" cy="73152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2. Role engine</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Deterministic candidate scoring</a:t>
            </a:r>
            <a:endParaRPr lang="en-US" sz="1400" dirty="0"/>
          </a:p>
        </p:txBody>
      </p:sp>
      <p:sp>
        <p:nvSpPr>
          <p:cNvPr id="12" name="Shape 10"/>
          <p:cNvSpPr/>
          <p:nvPr/>
        </p:nvSpPr>
        <p:spPr>
          <a:xfrm>
            <a:off x="9235440" y="3703320"/>
            <a:ext cx="0" cy="274320"/>
          </a:xfrm>
          <a:prstGeom prst="line">
            <a:avLst/>
          </a:prstGeom>
          <a:noFill/>
          <a:ln w="25400">
            <a:solidFill>
              <a:srgbClr val="7030A0"/>
            </a:solidFill>
            <a:prstDash val="solid"/>
            <a:tailEnd type="triangle"/>
          </a:ln>
        </p:spPr>
        <p:txBody>
          <a:bodyPr/>
          <a:lstStyle/>
          <a:p>
            <a:endParaRPr lang="en-US"/>
          </a:p>
        </p:txBody>
      </p:sp>
      <p:sp>
        <p:nvSpPr>
          <p:cNvPr id="13" name="Shape 11"/>
          <p:cNvSpPr/>
          <p:nvPr/>
        </p:nvSpPr>
        <p:spPr>
          <a:xfrm>
            <a:off x="7223760" y="397764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14" name="Text 12"/>
          <p:cNvSpPr txBox="1"/>
          <p:nvPr/>
        </p:nvSpPr>
        <p:spPr>
          <a:xfrm>
            <a:off x="7223760" y="3977640"/>
            <a:ext cx="4023360" cy="73152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3. Optimizer</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Synergy and salary-cap fit</a:t>
            </a:r>
            <a:endParaRPr lang="en-US" sz="1400" dirty="0"/>
          </a:p>
        </p:txBody>
      </p:sp>
      <p:sp>
        <p:nvSpPr>
          <p:cNvPr id="15" name="Shape 13"/>
          <p:cNvSpPr/>
          <p:nvPr/>
        </p:nvSpPr>
        <p:spPr>
          <a:xfrm>
            <a:off x="9235440" y="4709160"/>
            <a:ext cx="0" cy="274320"/>
          </a:xfrm>
          <a:prstGeom prst="line">
            <a:avLst/>
          </a:prstGeom>
          <a:noFill/>
          <a:ln w="25400">
            <a:solidFill>
              <a:srgbClr val="7030A0"/>
            </a:solidFill>
            <a:prstDash val="solid"/>
            <a:tailEnd type="triangle"/>
          </a:ln>
        </p:spPr>
        <p:txBody>
          <a:bodyPr/>
          <a:lstStyle/>
          <a:p>
            <a:endParaRPr lang="en-US"/>
          </a:p>
        </p:txBody>
      </p:sp>
      <p:sp>
        <p:nvSpPr>
          <p:cNvPr id="16" name="Shape 14"/>
          <p:cNvSpPr/>
          <p:nvPr/>
        </p:nvSpPr>
        <p:spPr>
          <a:xfrm>
            <a:off x="7223760" y="498348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17" name="Text 15"/>
          <p:cNvSpPr txBox="1"/>
          <p:nvPr/>
        </p:nvSpPr>
        <p:spPr>
          <a:xfrm>
            <a:off x="7223760" y="4983480"/>
            <a:ext cx="4023360" cy="73152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4. Audit snapshot</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SHA-256 sealed decision</a:t>
            </a:r>
            <a:endParaRPr lang="en-US" sz="14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PROBLEM AND SOLUTION</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700" b="1" dirty="0">
                <a:solidFill>
                  <a:srgbClr val="0070C0"/>
                </a:solidFill>
                <a:latin typeface="Calibri" pitchFamily="34" charset="0"/>
                <a:ea typeface="Calibri" pitchFamily="34" charset="-122"/>
                <a:cs typeface="Calibri" pitchFamily="34" charset="-120"/>
              </a:rPr>
              <a:t>The problem</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Public leaderboards (VLR.gg, HLTV) and spreadsheets rank players on combat stats such as ACS and K/D, with no roster context.</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Four failures</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Role mismatch (utility is invisible), hidden sample-size bias, missing stats silently counted as 0, and no auditable record of why a signing was made.</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Our solution</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A roster-first engine: diagnose the roster’s tactical deficit, score candidates against that gap, explain why A beats B, and lock the decision into an immutable snapshot.</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Example from validation</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The top combat scorer had a Roster Fit of 49.3, while a support player who covered the utility deficit scored 74.8.</a:t>
            </a:r>
            <a:endParaRPr lang="en-US" sz="1700" dirty="0"/>
          </a:p>
        </p:txBody>
      </p:sp>
      <p:sp>
        <p:nvSpPr>
          <p:cNvPr id="4" name="Shape 2"/>
          <p:cNvSpPr/>
          <p:nvPr/>
        </p:nvSpPr>
        <p:spPr>
          <a:xfrm>
            <a:off x="6309360" y="1188720"/>
            <a:ext cx="5394960" cy="2240280"/>
          </a:xfrm>
          <a:prstGeom prst="roundRect">
            <a:avLst>
              <a:gd name="adj" fmla="val 3265"/>
            </a:avLst>
          </a:prstGeom>
          <a:solidFill>
            <a:srgbClr val="FDEDEC"/>
          </a:solidFill>
          <a:ln w="19050">
            <a:solidFill>
              <a:srgbClr val="C0392B"/>
            </a:solidFill>
            <a:prstDash val="solid"/>
          </a:ln>
        </p:spPr>
        <p:txBody>
          <a:bodyPr/>
          <a:lstStyle/>
          <a:p>
            <a:endParaRPr lang="en-US"/>
          </a:p>
        </p:txBody>
      </p:sp>
      <p:sp>
        <p:nvSpPr>
          <p:cNvPr id="5" name="Text 3"/>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Traditional method</a:t>
            </a:r>
            <a:endParaRPr lang="en-US" sz="1200" dirty="0"/>
          </a:p>
        </p:txBody>
      </p:sp>
      <p:sp>
        <p:nvSpPr>
          <p:cNvPr id="6" name="Shape 4"/>
          <p:cNvSpPr/>
          <p:nvPr/>
        </p:nvSpPr>
        <p:spPr>
          <a:xfrm>
            <a:off x="6446520" y="1828800"/>
            <a:ext cx="1097280" cy="822960"/>
          </a:xfrm>
          <a:prstGeom prst="roundRect">
            <a:avLst>
              <a:gd name="adj" fmla="val 8889"/>
            </a:avLst>
          </a:prstGeom>
          <a:solidFill>
            <a:srgbClr val="FFFFFF"/>
          </a:solidFill>
          <a:ln w="22225">
            <a:solidFill>
              <a:srgbClr val="C0392B"/>
            </a:solidFill>
            <a:prstDash val="solid"/>
          </a:ln>
        </p:spPr>
        <p:txBody>
          <a:bodyPr/>
          <a:lstStyle/>
          <a:p>
            <a:endParaRPr lang="en-US"/>
          </a:p>
        </p:txBody>
      </p:sp>
      <p:sp>
        <p:nvSpPr>
          <p:cNvPr id="7" name="Text 5"/>
          <p:cNvSpPr txBox="1"/>
          <p:nvPr/>
        </p:nvSpPr>
        <p:spPr>
          <a:xfrm>
            <a:off x="6446520" y="182880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Leaderboard</a:t>
            </a:r>
            <a:endParaRPr lang="en-US" sz="1200" dirty="0"/>
          </a:p>
        </p:txBody>
      </p:sp>
      <p:sp>
        <p:nvSpPr>
          <p:cNvPr id="8" name="Shape 6"/>
          <p:cNvSpPr/>
          <p:nvPr/>
        </p:nvSpPr>
        <p:spPr>
          <a:xfrm>
            <a:off x="7543800" y="2240280"/>
            <a:ext cx="210312" cy="0"/>
          </a:xfrm>
          <a:prstGeom prst="line">
            <a:avLst/>
          </a:prstGeom>
          <a:noFill/>
          <a:ln w="25400">
            <a:solidFill>
              <a:srgbClr val="C0392B"/>
            </a:solidFill>
            <a:prstDash val="solid"/>
            <a:tailEnd type="triangle"/>
          </a:ln>
        </p:spPr>
        <p:txBody>
          <a:bodyPr/>
          <a:lstStyle/>
          <a:p>
            <a:endParaRPr lang="en-US"/>
          </a:p>
        </p:txBody>
      </p:sp>
      <p:sp>
        <p:nvSpPr>
          <p:cNvPr id="9" name="Shape 7"/>
          <p:cNvSpPr/>
          <p:nvPr/>
        </p:nvSpPr>
        <p:spPr>
          <a:xfrm>
            <a:off x="7754112" y="1828800"/>
            <a:ext cx="1097280" cy="822960"/>
          </a:xfrm>
          <a:prstGeom prst="roundRect">
            <a:avLst>
              <a:gd name="adj" fmla="val 8889"/>
            </a:avLst>
          </a:prstGeom>
          <a:solidFill>
            <a:srgbClr val="FFFFFF"/>
          </a:solidFill>
          <a:ln w="22225">
            <a:solidFill>
              <a:srgbClr val="C0392B"/>
            </a:solidFill>
            <a:prstDash val="solid"/>
          </a:ln>
        </p:spPr>
        <p:txBody>
          <a:bodyPr/>
          <a:lstStyle/>
          <a:p>
            <a:endParaRPr lang="en-US"/>
          </a:p>
        </p:txBody>
      </p:sp>
      <p:sp>
        <p:nvSpPr>
          <p:cNvPr id="10" name="Text 8"/>
          <p:cNvSpPr txBox="1"/>
          <p:nvPr/>
        </p:nvSpPr>
        <p:spPr>
          <a:xfrm>
            <a:off x="7754112" y="182880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Sort by K/D</a:t>
            </a:r>
            <a:endParaRPr lang="en-US" sz="1200" dirty="0"/>
          </a:p>
        </p:txBody>
      </p:sp>
      <p:sp>
        <p:nvSpPr>
          <p:cNvPr id="11" name="Shape 9"/>
          <p:cNvSpPr/>
          <p:nvPr/>
        </p:nvSpPr>
        <p:spPr>
          <a:xfrm>
            <a:off x="8851392" y="2240280"/>
            <a:ext cx="210312" cy="0"/>
          </a:xfrm>
          <a:prstGeom prst="line">
            <a:avLst/>
          </a:prstGeom>
          <a:noFill/>
          <a:ln w="25400">
            <a:solidFill>
              <a:srgbClr val="C0392B"/>
            </a:solidFill>
            <a:prstDash val="solid"/>
            <a:tailEnd type="triangle"/>
          </a:ln>
        </p:spPr>
        <p:txBody>
          <a:bodyPr/>
          <a:lstStyle/>
          <a:p>
            <a:endParaRPr lang="en-US"/>
          </a:p>
        </p:txBody>
      </p:sp>
      <p:sp>
        <p:nvSpPr>
          <p:cNvPr id="12" name="Shape 10"/>
          <p:cNvSpPr/>
          <p:nvPr/>
        </p:nvSpPr>
        <p:spPr>
          <a:xfrm>
            <a:off x="9061704" y="1828800"/>
            <a:ext cx="1097280" cy="822960"/>
          </a:xfrm>
          <a:prstGeom prst="roundRect">
            <a:avLst>
              <a:gd name="adj" fmla="val 8889"/>
            </a:avLst>
          </a:prstGeom>
          <a:solidFill>
            <a:srgbClr val="FFFFFF"/>
          </a:solidFill>
          <a:ln w="22225">
            <a:solidFill>
              <a:srgbClr val="C0392B"/>
            </a:solidFill>
            <a:prstDash val="solid"/>
          </a:ln>
        </p:spPr>
        <p:txBody>
          <a:bodyPr/>
          <a:lstStyle/>
          <a:p>
            <a:endParaRPr lang="en-US"/>
          </a:p>
        </p:txBody>
      </p:sp>
      <p:sp>
        <p:nvSpPr>
          <p:cNvPr id="13" name="Text 11"/>
          <p:cNvSpPr txBox="1"/>
          <p:nvPr/>
        </p:nvSpPr>
        <p:spPr>
          <a:xfrm>
            <a:off x="9061704" y="182880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Sign fragger</a:t>
            </a:r>
            <a:endParaRPr lang="en-US" sz="1200" dirty="0"/>
          </a:p>
        </p:txBody>
      </p:sp>
      <p:sp>
        <p:nvSpPr>
          <p:cNvPr id="14" name="Shape 12"/>
          <p:cNvSpPr/>
          <p:nvPr/>
        </p:nvSpPr>
        <p:spPr>
          <a:xfrm>
            <a:off x="10158984" y="2240280"/>
            <a:ext cx="210312" cy="0"/>
          </a:xfrm>
          <a:prstGeom prst="line">
            <a:avLst/>
          </a:prstGeom>
          <a:noFill/>
          <a:ln w="25400">
            <a:solidFill>
              <a:srgbClr val="C0392B"/>
            </a:solidFill>
            <a:prstDash val="solid"/>
            <a:tailEnd type="triangle"/>
          </a:ln>
        </p:spPr>
        <p:txBody>
          <a:bodyPr/>
          <a:lstStyle/>
          <a:p>
            <a:endParaRPr lang="en-US"/>
          </a:p>
        </p:txBody>
      </p:sp>
      <p:sp>
        <p:nvSpPr>
          <p:cNvPr id="15" name="Shape 13"/>
          <p:cNvSpPr/>
          <p:nvPr/>
        </p:nvSpPr>
        <p:spPr>
          <a:xfrm>
            <a:off x="10369296" y="1828800"/>
            <a:ext cx="1097280" cy="822960"/>
          </a:xfrm>
          <a:prstGeom prst="roundRect">
            <a:avLst>
              <a:gd name="adj" fmla="val 8889"/>
            </a:avLst>
          </a:prstGeom>
          <a:solidFill>
            <a:srgbClr val="FFFFFF"/>
          </a:solidFill>
          <a:ln w="22225">
            <a:solidFill>
              <a:srgbClr val="C0392B"/>
            </a:solidFill>
            <a:prstDash val="solid"/>
          </a:ln>
        </p:spPr>
        <p:txBody>
          <a:bodyPr/>
          <a:lstStyle/>
          <a:p>
            <a:endParaRPr lang="en-US"/>
          </a:p>
        </p:txBody>
      </p:sp>
      <p:sp>
        <p:nvSpPr>
          <p:cNvPr id="16" name="Text 14"/>
          <p:cNvSpPr txBox="1"/>
          <p:nvPr/>
        </p:nvSpPr>
        <p:spPr>
          <a:xfrm>
            <a:off x="10369296" y="182880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Role clash</a:t>
            </a:r>
            <a:endParaRPr lang="en-US" sz="1200" dirty="0"/>
          </a:p>
        </p:txBody>
      </p:sp>
      <p:sp>
        <p:nvSpPr>
          <p:cNvPr id="17" name="Shape 15"/>
          <p:cNvSpPr/>
          <p:nvPr/>
        </p:nvSpPr>
        <p:spPr>
          <a:xfrm>
            <a:off x="6309360" y="3657600"/>
            <a:ext cx="5394960" cy="2423160"/>
          </a:xfrm>
          <a:prstGeom prst="roundRect">
            <a:avLst>
              <a:gd name="adj" fmla="val 3019"/>
            </a:avLst>
          </a:prstGeom>
          <a:solidFill>
            <a:srgbClr val="EAF6EF"/>
          </a:solidFill>
          <a:ln w="19050">
            <a:solidFill>
              <a:srgbClr val="2E8B57"/>
            </a:solidFill>
            <a:prstDash val="solid"/>
          </a:ln>
        </p:spPr>
        <p:txBody>
          <a:bodyPr/>
          <a:lstStyle/>
          <a:p>
            <a:endParaRPr lang="en-US"/>
          </a:p>
        </p:txBody>
      </p:sp>
      <p:sp>
        <p:nvSpPr>
          <p:cNvPr id="18" name="Text 16"/>
          <p:cNvSpPr txBox="1"/>
          <p:nvPr/>
        </p:nvSpPr>
        <p:spPr>
          <a:xfrm>
            <a:off x="6400800" y="3694176"/>
            <a:ext cx="521208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Golden Snitch: roster-first</a:t>
            </a:r>
            <a:endParaRPr lang="en-US" sz="1200" dirty="0"/>
          </a:p>
        </p:txBody>
      </p:sp>
      <p:sp>
        <p:nvSpPr>
          <p:cNvPr id="19" name="Shape 17"/>
          <p:cNvSpPr/>
          <p:nvPr/>
        </p:nvSpPr>
        <p:spPr>
          <a:xfrm>
            <a:off x="6446520" y="4389120"/>
            <a:ext cx="1097280" cy="822960"/>
          </a:xfrm>
          <a:prstGeom prst="roundRect">
            <a:avLst>
              <a:gd name="adj" fmla="val 8889"/>
            </a:avLst>
          </a:prstGeom>
          <a:solidFill>
            <a:srgbClr val="FFFFFF"/>
          </a:solidFill>
          <a:ln w="22225">
            <a:solidFill>
              <a:srgbClr val="2E8B57"/>
            </a:solidFill>
            <a:prstDash val="solid"/>
          </a:ln>
        </p:spPr>
        <p:txBody>
          <a:bodyPr/>
          <a:lstStyle/>
          <a:p>
            <a:endParaRPr lang="en-US"/>
          </a:p>
        </p:txBody>
      </p:sp>
      <p:sp>
        <p:nvSpPr>
          <p:cNvPr id="20" name="Text 18"/>
          <p:cNvSpPr txBox="1"/>
          <p:nvPr/>
        </p:nvSpPr>
        <p:spPr>
          <a:xfrm>
            <a:off x="6446520" y="438912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Gap diagnosis</a:t>
            </a:r>
            <a:endParaRPr lang="en-US" sz="1200" dirty="0"/>
          </a:p>
        </p:txBody>
      </p:sp>
      <p:sp>
        <p:nvSpPr>
          <p:cNvPr id="21" name="Shape 19"/>
          <p:cNvSpPr/>
          <p:nvPr/>
        </p:nvSpPr>
        <p:spPr>
          <a:xfrm>
            <a:off x="7543800" y="4800600"/>
            <a:ext cx="210312" cy="0"/>
          </a:xfrm>
          <a:prstGeom prst="line">
            <a:avLst/>
          </a:prstGeom>
          <a:noFill/>
          <a:ln w="25400">
            <a:solidFill>
              <a:srgbClr val="2E8B57"/>
            </a:solidFill>
            <a:prstDash val="solid"/>
            <a:tailEnd type="triangle"/>
          </a:ln>
        </p:spPr>
        <p:txBody>
          <a:bodyPr/>
          <a:lstStyle/>
          <a:p>
            <a:endParaRPr lang="en-US"/>
          </a:p>
        </p:txBody>
      </p:sp>
      <p:sp>
        <p:nvSpPr>
          <p:cNvPr id="22" name="Shape 20"/>
          <p:cNvSpPr/>
          <p:nvPr/>
        </p:nvSpPr>
        <p:spPr>
          <a:xfrm>
            <a:off x="7754112" y="4389120"/>
            <a:ext cx="1097280" cy="822960"/>
          </a:xfrm>
          <a:prstGeom prst="roundRect">
            <a:avLst>
              <a:gd name="adj" fmla="val 8889"/>
            </a:avLst>
          </a:prstGeom>
          <a:solidFill>
            <a:srgbClr val="FFFFFF"/>
          </a:solidFill>
          <a:ln w="22225">
            <a:solidFill>
              <a:srgbClr val="2E8B57"/>
            </a:solidFill>
            <a:prstDash val="solid"/>
          </a:ln>
        </p:spPr>
        <p:txBody>
          <a:bodyPr/>
          <a:lstStyle/>
          <a:p>
            <a:endParaRPr lang="en-US"/>
          </a:p>
        </p:txBody>
      </p:sp>
      <p:sp>
        <p:nvSpPr>
          <p:cNvPr id="23" name="Text 21"/>
          <p:cNvSpPr txBox="1"/>
          <p:nvPr/>
        </p:nvSpPr>
        <p:spPr>
          <a:xfrm>
            <a:off x="7754112" y="438912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Role engine</a:t>
            </a:r>
            <a:endParaRPr lang="en-US" sz="1200" dirty="0"/>
          </a:p>
        </p:txBody>
      </p:sp>
      <p:sp>
        <p:nvSpPr>
          <p:cNvPr id="24" name="Shape 22"/>
          <p:cNvSpPr/>
          <p:nvPr/>
        </p:nvSpPr>
        <p:spPr>
          <a:xfrm>
            <a:off x="8851392" y="4800600"/>
            <a:ext cx="210312" cy="0"/>
          </a:xfrm>
          <a:prstGeom prst="line">
            <a:avLst/>
          </a:prstGeom>
          <a:noFill/>
          <a:ln w="25400">
            <a:solidFill>
              <a:srgbClr val="2E8B57"/>
            </a:solidFill>
            <a:prstDash val="solid"/>
            <a:tailEnd type="triangle"/>
          </a:ln>
        </p:spPr>
        <p:txBody>
          <a:bodyPr/>
          <a:lstStyle/>
          <a:p>
            <a:endParaRPr lang="en-US"/>
          </a:p>
        </p:txBody>
      </p:sp>
      <p:sp>
        <p:nvSpPr>
          <p:cNvPr id="25" name="Shape 23"/>
          <p:cNvSpPr/>
          <p:nvPr/>
        </p:nvSpPr>
        <p:spPr>
          <a:xfrm>
            <a:off x="9061704" y="4389120"/>
            <a:ext cx="1097280" cy="822960"/>
          </a:xfrm>
          <a:prstGeom prst="roundRect">
            <a:avLst>
              <a:gd name="adj" fmla="val 8889"/>
            </a:avLst>
          </a:prstGeom>
          <a:solidFill>
            <a:srgbClr val="FFFFFF"/>
          </a:solidFill>
          <a:ln w="22225">
            <a:solidFill>
              <a:srgbClr val="2E8B57"/>
            </a:solidFill>
            <a:prstDash val="solid"/>
          </a:ln>
        </p:spPr>
        <p:txBody>
          <a:bodyPr/>
          <a:lstStyle/>
          <a:p>
            <a:endParaRPr lang="en-US"/>
          </a:p>
        </p:txBody>
      </p:sp>
      <p:sp>
        <p:nvSpPr>
          <p:cNvPr id="26" name="Text 24"/>
          <p:cNvSpPr txBox="1"/>
          <p:nvPr/>
        </p:nvSpPr>
        <p:spPr>
          <a:xfrm>
            <a:off x="9061704" y="438912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Synergy + budget</a:t>
            </a:r>
            <a:endParaRPr lang="en-US" sz="1200" dirty="0"/>
          </a:p>
        </p:txBody>
      </p:sp>
      <p:sp>
        <p:nvSpPr>
          <p:cNvPr id="27" name="Shape 25"/>
          <p:cNvSpPr/>
          <p:nvPr/>
        </p:nvSpPr>
        <p:spPr>
          <a:xfrm>
            <a:off x="10158984" y="4800600"/>
            <a:ext cx="210312" cy="0"/>
          </a:xfrm>
          <a:prstGeom prst="line">
            <a:avLst/>
          </a:prstGeom>
          <a:noFill/>
          <a:ln w="25400">
            <a:solidFill>
              <a:srgbClr val="2E8B57"/>
            </a:solidFill>
            <a:prstDash val="solid"/>
            <a:tailEnd type="triangle"/>
          </a:ln>
        </p:spPr>
        <p:txBody>
          <a:bodyPr/>
          <a:lstStyle/>
          <a:p>
            <a:endParaRPr lang="en-US"/>
          </a:p>
        </p:txBody>
      </p:sp>
      <p:sp>
        <p:nvSpPr>
          <p:cNvPr id="28" name="Shape 26"/>
          <p:cNvSpPr/>
          <p:nvPr/>
        </p:nvSpPr>
        <p:spPr>
          <a:xfrm>
            <a:off x="10369296" y="4389120"/>
            <a:ext cx="1097280" cy="822960"/>
          </a:xfrm>
          <a:prstGeom prst="roundRect">
            <a:avLst>
              <a:gd name="adj" fmla="val 8889"/>
            </a:avLst>
          </a:prstGeom>
          <a:solidFill>
            <a:srgbClr val="FFFFFF"/>
          </a:solidFill>
          <a:ln w="22225">
            <a:solidFill>
              <a:srgbClr val="2E8B57"/>
            </a:solidFill>
            <a:prstDash val="solid"/>
          </a:ln>
        </p:spPr>
        <p:txBody>
          <a:bodyPr/>
          <a:lstStyle/>
          <a:p>
            <a:endParaRPr lang="en-US"/>
          </a:p>
        </p:txBody>
      </p:sp>
      <p:sp>
        <p:nvSpPr>
          <p:cNvPr id="29" name="Text 27"/>
          <p:cNvSpPr txBox="1"/>
          <p:nvPr/>
        </p:nvSpPr>
        <p:spPr>
          <a:xfrm>
            <a:off x="10369296" y="4389120"/>
            <a:ext cx="1097280" cy="82296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SHA-256 audit</a:t>
            </a:r>
            <a:endParaRPr lang="en-US" sz="1200" dirty="0"/>
          </a:p>
        </p:txBody>
      </p:sp>
      <p:sp>
        <p:nvSpPr>
          <p:cNvPr id="30" name="Shape 28"/>
          <p:cNvSpPr/>
          <p:nvPr/>
        </p:nvSpPr>
        <p:spPr>
          <a:xfrm>
            <a:off x="9006840" y="3429000"/>
            <a:ext cx="0" cy="228600"/>
          </a:xfrm>
          <a:prstGeom prst="line">
            <a:avLst/>
          </a:prstGeom>
          <a:noFill/>
          <a:ln w="25400">
            <a:solidFill>
              <a:srgbClr val="2E8B57"/>
            </a:solidFill>
            <a:prstDash val="solid"/>
            <a:tailEnd type="triangle"/>
          </a:ln>
        </p:spPr>
        <p:txBody>
          <a:bodyPr/>
          <a:lstStyle/>
          <a:p>
            <a:endParaRPr lang="en-US"/>
          </a:p>
        </p:txBody>
      </p:sp>
      <p:sp>
        <p:nvSpPr>
          <p:cNvPr id="31"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TECHNICAL APPROACH</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700" b="1" dirty="0">
                <a:solidFill>
                  <a:srgbClr val="0070C0"/>
                </a:solidFill>
                <a:latin typeface="Calibri" pitchFamily="34" charset="0"/>
                <a:ea typeface="Calibri" pitchFamily="34" charset="-122"/>
                <a:cs typeface="Calibri" pitchFamily="34" charset="-120"/>
              </a:rPr>
              <a:t>1. Client layer</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React 18 + Vite with Tailwind CSS; Recharts draws the radar and the “why A over B” waterfall.</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2. Gateway and security</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JWT sessions, 3-tier role-based access (GM, Coach, Scout) and SlowAPI rate limiting on login and search.</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3. Backend intelligence</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FastAPI + Python 3.12: scoring engine, roster fit and gap analyzer, PuLP roster optimizer, and a provider coordinator.</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4. Data and telemetry</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SQLite storage, live HenrikDev (Riot VCT) and Steam CS2 APIs, and an offline VCT LAN dataset used as fallback.</a:t>
            </a:r>
            <a:endParaRPr lang="en-US" sz="1700" dirty="0"/>
          </a:p>
        </p:txBody>
      </p:sp>
      <p:sp>
        <p:nvSpPr>
          <p:cNvPr id="4" name="Shape 2"/>
          <p:cNvSpPr/>
          <p:nvPr/>
        </p:nvSpPr>
        <p:spPr>
          <a:xfrm>
            <a:off x="6309360" y="1188720"/>
            <a:ext cx="5394960" cy="1005840"/>
          </a:xfrm>
          <a:prstGeom prst="roundRect">
            <a:avLst>
              <a:gd name="adj" fmla="val 7273"/>
            </a:avLst>
          </a:prstGeom>
          <a:solidFill>
            <a:srgbClr val="EAF2FB"/>
          </a:solidFill>
          <a:ln w="19050">
            <a:solidFill>
              <a:srgbClr val="0070C0"/>
            </a:solidFill>
            <a:prstDash val="solid"/>
          </a:ln>
        </p:spPr>
        <p:txBody>
          <a:bodyPr/>
          <a:lstStyle/>
          <a:p>
            <a:endParaRPr lang="en-US"/>
          </a:p>
        </p:txBody>
      </p:sp>
      <p:sp>
        <p:nvSpPr>
          <p:cNvPr id="5" name="Text 3"/>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0070C0"/>
                </a:solidFill>
                <a:latin typeface="Calibri" pitchFamily="34" charset="0"/>
                <a:ea typeface="Calibri" pitchFamily="34" charset="-122"/>
                <a:cs typeface="Calibri" pitchFamily="34" charset="-120"/>
              </a:rPr>
              <a:t>Client layer</a:t>
            </a:r>
            <a:endParaRPr lang="en-US" sz="1200" dirty="0"/>
          </a:p>
        </p:txBody>
      </p:sp>
      <p:sp>
        <p:nvSpPr>
          <p:cNvPr id="6" name="Shape 4"/>
          <p:cNvSpPr/>
          <p:nvPr/>
        </p:nvSpPr>
        <p:spPr>
          <a:xfrm>
            <a:off x="6492240" y="1536192"/>
            <a:ext cx="2446020" cy="594360"/>
          </a:xfrm>
          <a:prstGeom prst="roundRect">
            <a:avLst>
              <a:gd name="adj" fmla="val 12308"/>
            </a:avLst>
          </a:prstGeom>
          <a:solidFill>
            <a:srgbClr val="FFFFFF"/>
          </a:solidFill>
          <a:ln w="22225">
            <a:solidFill>
              <a:srgbClr val="0070C0"/>
            </a:solidFill>
            <a:prstDash val="solid"/>
          </a:ln>
        </p:spPr>
        <p:txBody>
          <a:bodyPr/>
          <a:lstStyle/>
          <a:p>
            <a:endParaRPr lang="en-US"/>
          </a:p>
        </p:txBody>
      </p:sp>
      <p:sp>
        <p:nvSpPr>
          <p:cNvPr id="7" name="Text 5"/>
          <p:cNvSpPr txBox="1"/>
          <p:nvPr/>
        </p:nvSpPr>
        <p:spPr>
          <a:xfrm>
            <a:off x="6492240" y="1536192"/>
            <a:ext cx="244602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React 18 + Vite</a:t>
            </a:r>
            <a:endParaRPr lang="en-US" sz="1100" dirty="0"/>
          </a:p>
        </p:txBody>
      </p:sp>
      <p:sp>
        <p:nvSpPr>
          <p:cNvPr id="8" name="Shape 6"/>
          <p:cNvSpPr/>
          <p:nvPr/>
        </p:nvSpPr>
        <p:spPr>
          <a:xfrm>
            <a:off x="9075420" y="1536192"/>
            <a:ext cx="2446020" cy="594360"/>
          </a:xfrm>
          <a:prstGeom prst="roundRect">
            <a:avLst>
              <a:gd name="adj" fmla="val 12308"/>
            </a:avLst>
          </a:prstGeom>
          <a:solidFill>
            <a:srgbClr val="FFFFFF"/>
          </a:solidFill>
          <a:ln w="22225">
            <a:solidFill>
              <a:srgbClr val="0070C0"/>
            </a:solidFill>
            <a:prstDash val="solid"/>
          </a:ln>
        </p:spPr>
        <p:txBody>
          <a:bodyPr/>
          <a:lstStyle/>
          <a:p>
            <a:endParaRPr lang="en-US"/>
          </a:p>
        </p:txBody>
      </p:sp>
      <p:sp>
        <p:nvSpPr>
          <p:cNvPr id="9" name="Text 7"/>
          <p:cNvSpPr txBox="1"/>
          <p:nvPr/>
        </p:nvSpPr>
        <p:spPr>
          <a:xfrm>
            <a:off x="9075420" y="1536192"/>
            <a:ext cx="244602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Recharts UI</a:t>
            </a:r>
            <a:endParaRPr lang="en-US" sz="1100" dirty="0"/>
          </a:p>
        </p:txBody>
      </p:sp>
      <p:sp>
        <p:nvSpPr>
          <p:cNvPr id="10" name="Shape 8"/>
          <p:cNvSpPr/>
          <p:nvPr/>
        </p:nvSpPr>
        <p:spPr>
          <a:xfrm>
            <a:off x="9006840" y="2194560"/>
            <a:ext cx="0" cy="274320"/>
          </a:xfrm>
          <a:prstGeom prst="line">
            <a:avLst/>
          </a:prstGeom>
          <a:noFill/>
          <a:ln w="25400">
            <a:solidFill>
              <a:srgbClr val="595959"/>
            </a:solidFill>
            <a:prstDash val="solid"/>
            <a:tailEnd type="triangle"/>
          </a:ln>
        </p:spPr>
        <p:txBody>
          <a:bodyPr/>
          <a:lstStyle/>
          <a:p>
            <a:endParaRPr lang="en-US"/>
          </a:p>
        </p:txBody>
      </p:sp>
      <p:sp>
        <p:nvSpPr>
          <p:cNvPr id="11" name="Shape 9"/>
          <p:cNvSpPr/>
          <p:nvPr/>
        </p:nvSpPr>
        <p:spPr>
          <a:xfrm>
            <a:off x="6309360" y="2468880"/>
            <a:ext cx="5394960" cy="1005840"/>
          </a:xfrm>
          <a:prstGeom prst="roundRect">
            <a:avLst>
              <a:gd name="adj" fmla="val 7273"/>
            </a:avLst>
          </a:prstGeom>
          <a:solidFill>
            <a:srgbClr val="FBF3E3"/>
          </a:solidFill>
          <a:ln w="19050">
            <a:solidFill>
              <a:srgbClr val="B7791F"/>
            </a:solidFill>
            <a:prstDash val="solid"/>
          </a:ln>
        </p:spPr>
        <p:txBody>
          <a:bodyPr/>
          <a:lstStyle/>
          <a:p>
            <a:endParaRPr lang="en-US"/>
          </a:p>
        </p:txBody>
      </p:sp>
      <p:sp>
        <p:nvSpPr>
          <p:cNvPr id="12" name="Text 10"/>
          <p:cNvSpPr txBox="1"/>
          <p:nvPr/>
        </p:nvSpPr>
        <p:spPr>
          <a:xfrm>
            <a:off x="6400800" y="2505456"/>
            <a:ext cx="5212080" cy="27432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Gateway + security</a:t>
            </a:r>
            <a:endParaRPr lang="en-US" sz="1200" dirty="0"/>
          </a:p>
        </p:txBody>
      </p:sp>
      <p:sp>
        <p:nvSpPr>
          <p:cNvPr id="13" name="Shape 11"/>
          <p:cNvSpPr/>
          <p:nvPr/>
        </p:nvSpPr>
        <p:spPr>
          <a:xfrm>
            <a:off x="6492240" y="2816352"/>
            <a:ext cx="2446020" cy="594360"/>
          </a:xfrm>
          <a:prstGeom prst="roundRect">
            <a:avLst>
              <a:gd name="adj" fmla="val 12308"/>
            </a:avLst>
          </a:prstGeom>
          <a:solidFill>
            <a:srgbClr val="FFFFFF"/>
          </a:solidFill>
          <a:ln w="22225">
            <a:solidFill>
              <a:srgbClr val="B7791F"/>
            </a:solidFill>
            <a:prstDash val="solid"/>
          </a:ln>
        </p:spPr>
        <p:txBody>
          <a:bodyPr/>
          <a:lstStyle/>
          <a:p>
            <a:endParaRPr lang="en-US"/>
          </a:p>
        </p:txBody>
      </p:sp>
      <p:sp>
        <p:nvSpPr>
          <p:cNvPr id="14" name="Text 12"/>
          <p:cNvSpPr txBox="1"/>
          <p:nvPr/>
        </p:nvSpPr>
        <p:spPr>
          <a:xfrm>
            <a:off x="6492240" y="2816352"/>
            <a:ext cx="244602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JWT + RBAC</a:t>
            </a:r>
            <a:endParaRPr lang="en-US" sz="1100" dirty="0"/>
          </a:p>
        </p:txBody>
      </p:sp>
      <p:sp>
        <p:nvSpPr>
          <p:cNvPr id="15" name="Shape 13"/>
          <p:cNvSpPr/>
          <p:nvPr/>
        </p:nvSpPr>
        <p:spPr>
          <a:xfrm>
            <a:off x="9075420" y="2816352"/>
            <a:ext cx="2446020" cy="594360"/>
          </a:xfrm>
          <a:prstGeom prst="roundRect">
            <a:avLst>
              <a:gd name="adj" fmla="val 12308"/>
            </a:avLst>
          </a:prstGeom>
          <a:solidFill>
            <a:srgbClr val="FFFFFF"/>
          </a:solidFill>
          <a:ln w="22225">
            <a:solidFill>
              <a:srgbClr val="B7791F"/>
            </a:solidFill>
            <a:prstDash val="solid"/>
          </a:ln>
        </p:spPr>
        <p:txBody>
          <a:bodyPr/>
          <a:lstStyle/>
          <a:p>
            <a:endParaRPr lang="en-US"/>
          </a:p>
        </p:txBody>
      </p:sp>
      <p:sp>
        <p:nvSpPr>
          <p:cNvPr id="16" name="Text 14"/>
          <p:cNvSpPr txBox="1"/>
          <p:nvPr/>
        </p:nvSpPr>
        <p:spPr>
          <a:xfrm>
            <a:off x="9075420" y="2816352"/>
            <a:ext cx="244602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SlowAPI limiter</a:t>
            </a:r>
            <a:endParaRPr lang="en-US" sz="1100" dirty="0"/>
          </a:p>
        </p:txBody>
      </p:sp>
      <p:sp>
        <p:nvSpPr>
          <p:cNvPr id="17" name="Shape 15"/>
          <p:cNvSpPr/>
          <p:nvPr/>
        </p:nvSpPr>
        <p:spPr>
          <a:xfrm>
            <a:off x="9006840" y="3474720"/>
            <a:ext cx="0" cy="274320"/>
          </a:xfrm>
          <a:prstGeom prst="line">
            <a:avLst/>
          </a:prstGeom>
          <a:noFill/>
          <a:ln w="25400">
            <a:solidFill>
              <a:srgbClr val="595959"/>
            </a:solidFill>
            <a:prstDash val="solid"/>
            <a:tailEnd type="triangle"/>
          </a:ln>
        </p:spPr>
        <p:txBody>
          <a:bodyPr/>
          <a:lstStyle/>
          <a:p>
            <a:endParaRPr lang="en-US"/>
          </a:p>
        </p:txBody>
      </p:sp>
      <p:sp>
        <p:nvSpPr>
          <p:cNvPr id="18" name="Shape 16"/>
          <p:cNvSpPr/>
          <p:nvPr/>
        </p:nvSpPr>
        <p:spPr>
          <a:xfrm>
            <a:off x="6309360" y="3749040"/>
            <a:ext cx="5394960" cy="1005840"/>
          </a:xfrm>
          <a:prstGeom prst="roundRect">
            <a:avLst>
              <a:gd name="adj" fmla="val 7273"/>
            </a:avLst>
          </a:prstGeom>
          <a:solidFill>
            <a:srgbClr val="F3ECF9"/>
          </a:solidFill>
          <a:ln w="19050">
            <a:solidFill>
              <a:srgbClr val="7030A0"/>
            </a:solidFill>
            <a:prstDash val="solid"/>
          </a:ln>
        </p:spPr>
        <p:txBody>
          <a:bodyPr/>
          <a:lstStyle/>
          <a:p>
            <a:endParaRPr lang="en-US"/>
          </a:p>
        </p:txBody>
      </p:sp>
      <p:sp>
        <p:nvSpPr>
          <p:cNvPr id="19" name="Text 17"/>
          <p:cNvSpPr txBox="1"/>
          <p:nvPr/>
        </p:nvSpPr>
        <p:spPr>
          <a:xfrm>
            <a:off x="6400800" y="3785616"/>
            <a:ext cx="5212080" cy="27432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FastAPI backend</a:t>
            </a:r>
            <a:endParaRPr lang="en-US" sz="1200" dirty="0"/>
          </a:p>
        </p:txBody>
      </p:sp>
      <p:sp>
        <p:nvSpPr>
          <p:cNvPr id="20" name="Shape 18"/>
          <p:cNvSpPr/>
          <p:nvPr/>
        </p:nvSpPr>
        <p:spPr>
          <a:xfrm>
            <a:off x="649224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1" name="Text 19"/>
          <p:cNvSpPr txBox="1"/>
          <p:nvPr/>
        </p:nvSpPr>
        <p:spPr>
          <a:xfrm>
            <a:off x="6492240" y="409651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Scoring</a:t>
            </a:r>
            <a:endParaRPr lang="en-US" sz="1100" dirty="0"/>
          </a:p>
          <a:p>
            <a:pPr marL="0" indent="0" algn="ctr">
              <a:buNone/>
            </a:pPr>
            <a:r>
              <a:rPr lang="en-US" sz="900" dirty="0">
                <a:solidFill>
                  <a:srgbClr val="595959"/>
                </a:solidFill>
                <a:latin typeface="Calibri" pitchFamily="34" charset="0"/>
                <a:ea typeface="Calibri" pitchFamily="34" charset="-122"/>
                <a:cs typeface="Calibri" pitchFamily="34" charset="-120"/>
              </a:rPr>
              <a:t>engine</a:t>
            </a:r>
            <a:endParaRPr lang="en-US" sz="1100" dirty="0"/>
          </a:p>
        </p:txBody>
      </p:sp>
      <p:sp>
        <p:nvSpPr>
          <p:cNvPr id="22" name="Shape 20"/>
          <p:cNvSpPr/>
          <p:nvPr/>
        </p:nvSpPr>
        <p:spPr>
          <a:xfrm>
            <a:off x="778383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3" name="Text 21"/>
          <p:cNvSpPr txBox="1"/>
          <p:nvPr/>
        </p:nvSpPr>
        <p:spPr>
          <a:xfrm>
            <a:off x="7783830" y="409651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Fit + gap</a:t>
            </a:r>
            <a:endParaRPr lang="en-US" sz="1100" dirty="0"/>
          </a:p>
          <a:p>
            <a:pPr marL="0" indent="0" algn="ctr">
              <a:buNone/>
            </a:pPr>
            <a:r>
              <a:rPr lang="en-US" sz="900" dirty="0">
                <a:solidFill>
                  <a:srgbClr val="595959"/>
                </a:solidFill>
                <a:latin typeface="Calibri" pitchFamily="34" charset="0"/>
                <a:ea typeface="Calibri" pitchFamily="34" charset="-122"/>
                <a:cs typeface="Calibri" pitchFamily="34" charset="-120"/>
              </a:rPr>
              <a:t>analyzer</a:t>
            </a:r>
            <a:endParaRPr lang="en-US" sz="1100" dirty="0"/>
          </a:p>
        </p:txBody>
      </p:sp>
      <p:sp>
        <p:nvSpPr>
          <p:cNvPr id="24" name="Shape 22"/>
          <p:cNvSpPr/>
          <p:nvPr/>
        </p:nvSpPr>
        <p:spPr>
          <a:xfrm>
            <a:off x="907542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5" name="Text 23"/>
          <p:cNvSpPr txBox="1"/>
          <p:nvPr/>
        </p:nvSpPr>
        <p:spPr>
          <a:xfrm>
            <a:off x="9075420" y="409651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PuLP</a:t>
            </a:r>
            <a:endParaRPr lang="en-US" sz="1100" dirty="0"/>
          </a:p>
          <a:p>
            <a:pPr marL="0" indent="0" algn="ctr">
              <a:buNone/>
            </a:pPr>
            <a:r>
              <a:rPr lang="en-US" sz="900" dirty="0">
                <a:solidFill>
                  <a:srgbClr val="595959"/>
                </a:solidFill>
                <a:latin typeface="Calibri" pitchFamily="34" charset="0"/>
                <a:ea typeface="Calibri" pitchFamily="34" charset="-122"/>
                <a:cs typeface="Calibri" pitchFamily="34" charset="-120"/>
              </a:rPr>
              <a:t>optimizer</a:t>
            </a:r>
            <a:endParaRPr lang="en-US" sz="1100" dirty="0"/>
          </a:p>
        </p:txBody>
      </p:sp>
      <p:sp>
        <p:nvSpPr>
          <p:cNvPr id="26" name="Shape 24"/>
          <p:cNvSpPr/>
          <p:nvPr/>
        </p:nvSpPr>
        <p:spPr>
          <a:xfrm>
            <a:off x="1036701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7" name="Text 25"/>
          <p:cNvSpPr txBox="1"/>
          <p:nvPr/>
        </p:nvSpPr>
        <p:spPr>
          <a:xfrm>
            <a:off x="10367010" y="409651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Provider</a:t>
            </a:r>
            <a:endParaRPr lang="en-US" sz="1100" dirty="0"/>
          </a:p>
          <a:p>
            <a:pPr marL="0" indent="0" algn="ctr">
              <a:buNone/>
            </a:pPr>
            <a:r>
              <a:rPr lang="en-US" sz="900" dirty="0">
                <a:solidFill>
                  <a:srgbClr val="595959"/>
                </a:solidFill>
                <a:latin typeface="Calibri" pitchFamily="34" charset="0"/>
                <a:ea typeface="Calibri" pitchFamily="34" charset="-122"/>
                <a:cs typeface="Calibri" pitchFamily="34" charset="-120"/>
              </a:rPr>
              <a:t>hub</a:t>
            </a:r>
            <a:endParaRPr lang="en-US" sz="1100" dirty="0"/>
          </a:p>
        </p:txBody>
      </p:sp>
      <p:sp>
        <p:nvSpPr>
          <p:cNvPr id="28" name="Shape 26"/>
          <p:cNvSpPr/>
          <p:nvPr/>
        </p:nvSpPr>
        <p:spPr>
          <a:xfrm>
            <a:off x="9006840" y="4754880"/>
            <a:ext cx="0" cy="274320"/>
          </a:xfrm>
          <a:prstGeom prst="line">
            <a:avLst/>
          </a:prstGeom>
          <a:noFill/>
          <a:ln w="25400">
            <a:solidFill>
              <a:srgbClr val="595959"/>
            </a:solidFill>
            <a:prstDash val="solid"/>
            <a:tailEnd type="triangle"/>
          </a:ln>
        </p:spPr>
        <p:txBody>
          <a:bodyPr/>
          <a:lstStyle/>
          <a:p>
            <a:endParaRPr lang="en-US"/>
          </a:p>
        </p:txBody>
      </p:sp>
      <p:sp>
        <p:nvSpPr>
          <p:cNvPr id="29" name="Shape 27"/>
          <p:cNvSpPr/>
          <p:nvPr/>
        </p:nvSpPr>
        <p:spPr>
          <a:xfrm>
            <a:off x="6309360" y="5029200"/>
            <a:ext cx="5394960" cy="1005840"/>
          </a:xfrm>
          <a:prstGeom prst="roundRect">
            <a:avLst>
              <a:gd name="adj" fmla="val 7273"/>
            </a:avLst>
          </a:prstGeom>
          <a:solidFill>
            <a:srgbClr val="EAF6EF"/>
          </a:solidFill>
          <a:ln w="19050">
            <a:solidFill>
              <a:srgbClr val="2E8B57"/>
            </a:solidFill>
            <a:prstDash val="solid"/>
          </a:ln>
        </p:spPr>
        <p:txBody>
          <a:bodyPr/>
          <a:lstStyle/>
          <a:p>
            <a:endParaRPr lang="en-US"/>
          </a:p>
        </p:txBody>
      </p:sp>
      <p:sp>
        <p:nvSpPr>
          <p:cNvPr id="30" name="Text 28"/>
          <p:cNvSpPr txBox="1"/>
          <p:nvPr/>
        </p:nvSpPr>
        <p:spPr>
          <a:xfrm>
            <a:off x="6400800" y="5065776"/>
            <a:ext cx="521208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Data + telemetry</a:t>
            </a:r>
            <a:endParaRPr lang="en-US" sz="1200" dirty="0"/>
          </a:p>
        </p:txBody>
      </p:sp>
      <p:sp>
        <p:nvSpPr>
          <p:cNvPr id="31" name="Shape 29"/>
          <p:cNvSpPr/>
          <p:nvPr/>
        </p:nvSpPr>
        <p:spPr>
          <a:xfrm>
            <a:off x="649224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2" name="Text 30"/>
          <p:cNvSpPr txBox="1"/>
          <p:nvPr/>
        </p:nvSpPr>
        <p:spPr>
          <a:xfrm>
            <a:off x="6492240" y="537667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SQLite</a:t>
            </a:r>
            <a:endParaRPr lang="en-US" sz="1100" dirty="0"/>
          </a:p>
        </p:txBody>
      </p:sp>
      <p:sp>
        <p:nvSpPr>
          <p:cNvPr id="33" name="Shape 31"/>
          <p:cNvSpPr/>
          <p:nvPr/>
        </p:nvSpPr>
        <p:spPr>
          <a:xfrm>
            <a:off x="778383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4" name="Text 32"/>
          <p:cNvSpPr txBox="1"/>
          <p:nvPr/>
        </p:nvSpPr>
        <p:spPr>
          <a:xfrm>
            <a:off x="7783830" y="537667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HenrikDev</a:t>
            </a:r>
            <a:endParaRPr lang="en-US" sz="1100" dirty="0"/>
          </a:p>
          <a:p>
            <a:pPr marL="0" indent="0" algn="ctr">
              <a:buNone/>
            </a:pPr>
            <a:r>
              <a:rPr lang="en-US" sz="900" dirty="0">
                <a:solidFill>
                  <a:srgbClr val="595959"/>
                </a:solidFill>
                <a:latin typeface="Calibri" pitchFamily="34" charset="0"/>
                <a:ea typeface="Calibri" pitchFamily="34" charset="-122"/>
                <a:cs typeface="Calibri" pitchFamily="34" charset="-120"/>
              </a:rPr>
              <a:t>live API</a:t>
            </a:r>
            <a:endParaRPr lang="en-US" sz="1100" dirty="0"/>
          </a:p>
        </p:txBody>
      </p:sp>
      <p:sp>
        <p:nvSpPr>
          <p:cNvPr id="35" name="Shape 33"/>
          <p:cNvSpPr/>
          <p:nvPr/>
        </p:nvSpPr>
        <p:spPr>
          <a:xfrm>
            <a:off x="907542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6" name="Text 34"/>
          <p:cNvSpPr txBox="1"/>
          <p:nvPr/>
        </p:nvSpPr>
        <p:spPr>
          <a:xfrm>
            <a:off x="9075420" y="537667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Steam</a:t>
            </a:r>
            <a:endParaRPr lang="en-US" sz="1100" dirty="0"/>
          </a:p>
          <a:p>
            <a:pPr marL="0" indent="0" algn="ctr">
              <a:buNone/>
            </a:pPr>
            <a:r>
              <a:rPr lang="en-US" sz="900" dirty="0">
                <a:solidFill>
                  <a:srgbClr val="595959"/>
                </a:solidFill>
                <a:latin typeface="Calibri" pitchFamily="34" charset="0"/>
                <a:ea typeface="Calibri" pitchFamily="34" charset="-122"/>
                <a:cs typeface="Calibri" pitchFamily="34" charset="-120"/>
              </a:rPr>
              <a:t>CS2 API</a:t>
            </a:r>
            <a:endParaRPr lang="en-US" sz="1100" dirty="0"/>
          </a:p>
        </p:txBody>
      </p:sp>
      <p:sp>
        <p:nvSpPr>
          <p:cNvPr id="37" name="Shape 35"/>
          <p:cNvSpPr/>
          <p:nvPr/>
        </p:nvSpPr>
        <p:spPr>
          <a:xfrm>
            <a:off x="1036701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8" name="Text 36"/>
          <p:cNvSpPr txBox="1"/>
          <p:nvPr/>
        </p:nvSpPr>
        <p:spPr>
          <a:xfrm>
            <a:off x="10367010" y="5376672"/>
            <a:ext cx="1154430" cy="594360"/>
          </a:xfrm>
          <a:prstGeom prst="rect">
            <a:avLst/>
          </a:prstGeom>
          <a:noFill/>
          <a:ln/>
        </p:spPr>
        <p:txBody>
          <a:bodyPr wrap="square" lIns="508" tIns="508" rIns="508" bIns="508" rtlCol="0" anchor="ctr"/>
          <a:lstStyle/>
          <a:p>
            <a:pPr marL="0" indent="0" algn="ctr">
              <a:buNone/>
            </a:pPr>
            <a:r>
              <a:rPr lang="en-US" sz="1100" b="1" dirty="0">
                <a:solidFill>
                  <a:srgbClr val="1F2937"/>
                </a:solidFill>
                <a:latin typeface="Calibri" pitchFamily="34" charset="0"/>
                <a:ea typeface="Calibri" pitchFamily="34" charset="-122"/>
                <a:cs typeface="Calibri" pitchFamily="34" charset="-120"/>
              </a:rPr>
              <a:t>VCT LAN</a:t>
            </a:r>
            <a:endParaRPr lang="en-US" sz="1100" dirty="0"/>
          </a:p>
          <a:p>
            <a:pPr marL="0" indent="0" algn="ctr">
              <a:buNone/>
            </a:pPr>
            <a:r>
              <a:rPr lang="en-US" sz="900" dirty="0">
                <a:solidFill>
                  <a:srgbClr val="595959"/>
                </a:solidFill>
                <a:latin typeface="Calibri" pitchFamily="34" charset="0"/>
                <a:ea typeface="Calibri" pitchFamily="34" charset="-122"/>
                <a:cs typeface="Calibri" pitchFamily="34" charset="-120"/>
              </a:rPr>
              <a:t>dataset</a:t>
            </a:r>
            <a:endParaRPr lang="en-US" sz="1100" dirty="0"/>
          </a:p>
        </p:txBody>
      </p:sp>
      <p:sp>
        <p:nvSpPr>
          <p:cNvPr id="39"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SCORING ENGINE</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700" b="1" dirty="0">
                <a:solidFill>
                  <a:srgbClr val="0070C0"/>
                </a:solidFill>
                <a:latin typeface="Calibri" pitchFamily="34" charset="0"/>
                <a:ea typeface="Calibri" pitchFamily="34" charset="-122"/>
                <a:cs typeface="Calibri" pitchFamily="34" charset="-120"/>
              </a:rPr>
              <a:t>Global Talent Index (GTI)</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A weighted sum of normalized stats, with role-specific weights: duelists favour first kills and damage, controllers favour utility and survival.</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Sample-size discount</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Scores are scaled down for small samples. Players under 50 rounds are flagged Provisional, so a hot 20-round streak cannot beat a veteran’s 400 LAN rounds.</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Missing ≠ 0</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An unrecorded stat is dropped from the calculation, never counted as zero performance.</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Optimizer</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A PuLP integer program picks the 5-player roster with the best total fit under the salary cap and role constraints.</a:t>
            </a:r>
            <a:endParaRPr lang="en-US" sz="1700" dirty="0"/>
          </a:p>
        </p:txBody>
      </p:sp>
      <p:sp>
        <p:nvSpPr>
          <p:cNvPr id="4" name="Shape 2"/>
          <p:cNvSpPr/>
          <p:nvPr/>
        </p:nvSpPr>
        <p:spPr>
          <a:xfrm>
            <a:off x="6309360" y="1188720"/>
            <a:ext cx="5394960" cy="1828800"/>
          </a:xfrm>
          <a:prstGeom prst="roundRect">
            <a:avLst>
              <a:gd name="adj" fmla="val 4000"/>
            </a:avLst>
          </a:prstGeom>
          <a:solidFill>
            <a:srgbClr val="F3ECF9"/>
          </a:solidFill>
          <a:ln w="19050">
            <a:solidFill>
              <a:srgbClr val="7030A0"/>
            </a:solidFill>
            <a:prstDash val="solid"/>
          </a:ln>
        </p:spPr>
        <p:txBody>
          <a:bodyPr/>
          <a:lstStyle/>
          <a:p>
            <a:endParaRPr lang="en-US"/>
          </a:p>
        </p:txBody>
      </p:sp>
      <p:sp>
        <p:nvSpPr>
          <p:cNvPr id="5" name="Text 3"/>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Scoring core</a:t>
            </a:r>
            <a:endParaRPr lang="en-US" sz="1200" dirty="0"/>
          </a:p>
        </p:txBody>
      </p:sp>
      <p:sp>
        <p:nvSpPr>
          <p:cNvPr id="6" name="Shape 4"/>
          <p:cNvSpPr/>
          <p:nvPr/>
        </p:nvSpPr>
        <p:spPr>
          <a:xfrm>
            <a:off x="6446520" y="1691640"/>
            <a:ext cx="1508760" cy="1097280"/>
          </a:xfrm>
          <a:prstGeom prst="roundRect">
            <a:avLst>
              <a:gd name="adj" fmla="val 6667"/>
            </a:avLst>
          </a:prstGeom>
          <a:solidFill>
            <a:srgbClr val="FFFFFF"/>
          </a:solidFill>
          <a:ln w="22225">
            <a:solidFill>
              <a:srgbClr val="7030A0"/>
            </a:solidFill>
            <a:prstDash val="solid"/>
          </a:ln>
        </p:spPr>
        <p:txBody>
          <a:bodyPr/>
          <a:lstStyle/>
          <a:p>
            <a:endParaRPr lang="en-US"/>
          </a:p>
        </p:txBody>
      </p:sp>
      <p:sp>
        <p:nvSpPr>
          <p:cNvPr id="7" name="Text 5"/>
          <p:cNvSpPr txBox="1"/>
          <p:nvPr/>
        </p:nvSpPr>
        <p:spPr>
          <a:xfrm>
            <a:off x="6446520" y="1691640"/>
            <a:ext cx="1508760" cy="109728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Raw stats</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Missing dropped</a:t>
            </a:r>
            <a:endParaRPr lang="en-US" sz="1300" dirty="0"/>
          </a:p>
        </p:txBody>
      </p:sp>
      <p:sp>
        <p:nvSpPr>
          <p:cNvPr id="8" name="Shape 6"/>
          <p:cNvSpPr/>
          <p:nvPr/>
        </p:nvSpPr>
        <p:spPr>
          <a:xfrm>
            <a:off x="7955280" y="2240280"/>
            <a:ext cx="274320" cy="0"/>
          </a:xfrm>
          <a:prstGeom prst="line">
            <a:avLst/>
          </a:prstGeom>
          <a:noFill/>
          <a:ln w="25400">
            <a:solidFill>
              <a:srgbClr val="7030A0"/>
            </a:solidFill>
            <a:prstDash val="solid"/>
            <a:tailEnd type="triangle"/>
          </a:ln>
        </p:spPr>
        <p:txBody>
          <a:bodyPr/>
          <a:lstStyle/>
          <a:p>
            <a:endParaRPr lang="en-US"/>
          </a:p>
        </p:txBody>
      </p:sp>
      <p:sp>
        <p:nvSpPr>
          <p:cNvPr id="9" name="Shape 7"/>
          <p:cNvSpPr/>
          <p:nvPr/>
        </p:nvSpPr>
        <p:spPr>
          <a:xfrm>
            <a:off x="8229600" y="1691640"/>
            <a:ext cx="1508760" cy="1097280"/>
          </a:xfrm>
          <a:prstGeom prst="roundRect">
            <a:avLst>
              <a:gd name="adj" fmla="val 6667"/>
            </a:avLst>
          </a:prstGeom>
          <a:solidFill>
            <a:srgbClr val="FFFFFF"/>
          </a:solidFill>
          <a:ln w="22225">
            <a:solidFill>
              <a:srgbClr val="7030A0"/>
            </a:solidFill>
            <a:prstDash val="solid"/>
          </a:ln>
        </p:spPr>
        <p:txBody>
          <a:bodyPr/>
          <a:lstStyle/>
          <a:p>
            <a:endParaRPr lang="en-US"/>
          </a:p>
        </p:txBody>
      </p:sp>
      <p:sp>
        <p:nvSpPr>
          <p:cNvPr id="10" name="Text 8"/>
          <p:cNvSpPr txBox="1"/>
          <p:nvPr/>
        </p:nvSpPr>
        <p:spPr>
          <a:xfrm>
            <a:off x="8229600" y="1691640"/>
            <a:ext cx="1508760" cy="109728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GTI</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Σ w·N(m)</a:t>
            </a:r>
            <a:endParaRPr lang="en-US" sz="1300" dirty="0"/>
          </a:p>
        </p:txBody>
      </p:sp>
      <p:sp>
        <p:nvSpPr>
          <p:cNvPr id="11" name="Shape 9"/>
          <p:cNvSpPr/>
          <p:nvPr/>
        </p:nvSpPr>
        <p:spPr>
          <a:xfrm>
            <a:off x="9738360" y="2240280"/>
            <a:ext cx="274320" cy="0"/>
          </a:xfrm>
          <a:prstGeom prst="line">
            <a:avLst/>
          </a:prstGeom>
          <a:noFill/>
          <a:ln w="25400">
            <a:solidFill>
              <a:srgbClr val="7030A0"/>
            </a:solidFill>
            <a:prstDash val="solid"/>
            <a:tailEnd type="triangle"/>
          </a:ln>
        </p:spPr>
        <p:txBody>
          <a:bodyPr/>
          <a:lstStyle/>
          <a:p>
            <a:endParaRPr lang="en-US"/>
          </a:p>
        </p:txBody>
      </p:sp>
      <p:sp>
        <p:nvSpPr>
          <p:cNvPr id="12" name="Shape 10"/>
          <p:cNvSpPr/>
          <p:nvPr/>
        </p:nvSpPr>
        <p:spPr>
          <a:xfrm>
            <a:off x="10012680" y="1691640"/>
            <a:ext cx="1508760" cy="1097280"/>
          </a:xfrm>
          <a:prstGeom prst="roundRect">
            <a:avLst>
              <a:gd name="adj" fmla="val 6667"/>
            </a:avLst>
          </a:prstGeom>
          <a:solidFill>
            <a:srgbClr val="FFFFFF"/>
          </a:solidFill>
          <a:ln w="22225">
            <a:solidFill>
              <a:srgbClr val="7030A0"/>
            </a:solidFill>
            <a:prstDash val="solid"/>
          </a:ln>
        </p:spPr>
        <p:txBody>
          <a:bodyPr/>
          <a:lstStyle/>
          <a:p>
            <a:endParaRPr lang="en-US"/>
          </a:p>
        </p:txBody>
      </p:sp>
      <p:sp>
        <p:nvSpPr>
          <p:cNvPr id="13" name="Text 11"/>
          <p:cNvSpPr txBox="1"/>
          <p:nvPr/>
        </p:nvSpPr>
        <p:spPr>
          <a:xfrm>
            <a:off x="10012680" y="1691640"/>
            <a:ext cx="1508760" cy="109728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Discount</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N &lt; 50: flag</a:t>
            </a:r>
            <a:endParaRPr lang="en-US" sz="1300" dirty="0"/>
          </a:p>
        </p:txBody>
      </p:sp>
      <p:sp>
        <p:nvSpPr>
          <p:cNvPr id="14" name="Shape 12"/>
          <p:cNvSpPr/>
          <p:nvPr/>
        </p:nvSpPr>
        <p:spPr>
          <a:xfrm>
            <a:off x="9006840" y="3017520"/>
            <a:ext cx="0" cy="274320"/>
          </a:xfrm>
          <a:prstGeom prst="line">
            <a:avLst/>
          </a:prstGeom>
          <a:noFill/>
          <a:ln w="25400">
            <a:solidFill>
              <a:srgbClr val="2E8B57"/>
            </a:solidFill>
            <a:prstDash val="solid"/>
            <a:tailEnd type="triangle"/>
          </a:ln>
        </p:spPr>
        <p:txBody>
          <a:bodyPr/>
          <a:lstStyle/>
          <a:p>
            <a:endParaRPr lang="en-US"/>
          </a:p>
        </p:txBody>
      </p:sp>
      <p:sp>
        <p:nvSpPr>
          <p:cNvPr id="15" name="Shape 13"/>
          <p:cNvSpPr/>
          <p:nvPr/>
        </p:nvSpPr>
        <p:spPr>
          <a:xfrm>
            <a:off x="6309360" y="3291840"/>
            <a:ext cx="5394960" cy="2743200"/>
          </a:xfrm>
          <a:prstGeom prst="roundRect">
            <a:avLst>
              <a:gd name="adj" fmla="val 2667"/>
            </a:avLst>
          </a:prstGeom>
          <a:solidFill>
            <a:srgbClr val="EAF6EF"/>
          </a:solidFill>
          <a:ln w="19050">
            <a:solidFill>
              <a:srgbClr val="2E8B57"/>
            </a:solidFill>
            <a:prstDash val="solid"/>
          </a:ln>
        </p:spPr>
        <p:txBody>
          <a:bodyPr/>
          <a:lstStyle/>
          <a:p>
            <a:endParaRPr lang="en-US"/>
          </a:p>
        </p:txBody>
      </p:sp>
      <p:sp>
        <p:nvSpPr>
          <p:cNvPr id="16" name="Text 14"/>
          <p:cNvSpPr txBox="1"/>
          <p:nvPr/>
        </p:nvSpPr>
        <p:spPr>
          <a:xfrm>
            <a:off x="6400800" y="3328416"/>
            <a:ext cx="521208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Fit and optimization</a:t>
            </a:r>
            <a:endParaRPr lang="en-US" sz="1200" dirty="0"/>
          </a:p>
        </p:txBody>
      </p:sp>
      <p:sp>
        <p:nvSpPr>
          <p:cNvPr id="17" name="Shape 15"/>
          <p:cNvSpPr/>
          <p:nvPr/>
        </p:nvSpPr>
        <p:spPr>
          <a:xfrm>
            <a:off x="6537960" y="3840480"/>
            <a:ext cx="2103120" cy="914400"/>
          </a:xfrm>
          <a:prstGeom prst="roundRect">
            <a:avLst>
              <a:gd name="adj" fmla="val 8000"/>
            </a:avLst>
          </a:prstGeom>
          <a:solidFill>
            <a:srgbClr val="FFFFFF"/>
          </a:solidFill>
          <a:ln w="22225">
            <a:solidFill>
              <a:srgbClr val="2E8B57"/>
            </a:solidFill>
            <a:prstDash val="solid"/>
          </a:ln>
        </p:spPr>
        <p:txBody>
          <a:bodyPr/>
          <a:lstStyle/>
          <a:p>
            <a:endParaRPr lang="en-US"/>
          </a:p>
        </p:txBody>
      </p:sp>
      <p:sp>
        <p:nvSpPr>
          <p:cNvPr id="18" name="Text 16"/>
          <p:cNvSpPr txBox="1"/>
          <p:nvPr/>
        </p:nvSpPr>
        <p:spPr>
          <a:xfrm>
            <a:off x="6537960" y="3840480"/>
            <a:ext cx="2103120" cy="91440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Roster fit</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Gap coverage</a:t>
            </a:r>
            <a:endParaRPr lang="en-US" sz="1300" dirty="0"/>
          </a:p>
        </p:txBody>
      </p:sp>
      <p:sp>
        <p:nvSpPr>
          <p:cNvPr id="19" name="Shape 17"/>
          <p:cNvSpPr/>
          <p:nvPr/>
        </p:nvSpPr>
        <p:spPr>
          <a:xfrm>
            <a:off x="9281160" y="3840480"/>
            <a:ext cx="2194560" cy="914400"/>
          </a:xfrm>
          <a:prstGeom prst="roundRect">
            <a:avLst>
              <a:gd name="adj" fmla="val 8000"/>
            </a:avLst>
          </a:prstGeom>
          <a:solidFill>
            <a:srgbClr val="FFFFFF"/>
          </a:solidFill>
          <a:ln w="22225">
            <a:solidFill>
              <a:srgbClr val="2E8B57"/>
            </a:solidFill>
            <a:prstDash val="solid"/>
          </a:ln>
        </p:spPr>
        <p:txBody>
          <a:bodyPr/>
          <a:lstStyle/>
          <a:p>
            <a:endParaRPr lang="en-US"/>
          </a:p>
        </p:txBody>
      </p:sp>
      <p:sp>
        <p:nvSpPr>
          <p:cNvPr id="20" name="Text 18"/>
          <p:cNvSpPr txBox="1"/>
          <p:nvPr/>
        </p:nvSpPr>
        <p:spPr>
          <a:xfrm>
            <a:off x="9281160" y="3840480"/>
            <a:ext cx="2194560" cy="91440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ILP optimizer</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max Σ Fit · x</a:t>
            </a:r>
            <a:endParaRPr lang="en-US" sz="1300" dirty="0"/>
          </a:p>
        </p:txBody>
      </p:sp>
      <p:sp>
        <p:nvSpPr>
          <p:cNvPr id="21" name="Shape 19"/>
          <p:cNvSpPr/>
          <p:nvPr/>
        </p:nvSpPr>
        <p:spPr>
          <a:xfrm>
            <a:off x="8641080" y="4297680"/>
            <a:ext cx="640080" cy="0"/>
          </a:xfrm>
          <a:prstGeom prst="line">
            <a:avLst/>
          </a:prstGeom>
          <a:noFill/>
          <a:ln w="25400">
            <a:solidFill>
              <a:srgbClr val="2E8B57"/>
            </a:solidFill>
            <a:prstDash val="solid"/>
            <a:tailEnd type="triangle"/>
          </a:ln>
        </p:spPr>
        <p:txBody>
          <a:bodyPr/>
          <a:lstStyle/>
          <a:p>
            <a:endParaRPr lang="en-US"/>
          </a:p>
        </p:txBody>
      </p:sp>
      <p:sp>
        <p:nvSpPr>
          <p:cNvPr id="22" name="Shape 20"/>
          <p:cNvSpPr/>
          <p:nvPr/>
        </p:nvSpPr>
        <p:spPr>
          <a:xfrm>
            <a:off x="6537960" y="5029200"/>
            <a:ext cx="4937760" cy="731520"/>
          </a:xfrm>
          <a:prstGeom prst="roundRect">
            <a:avLst>
              <a:gd name="adj" fmla="val 10000"/>
            </a:avLst>
          </a:prstGeom>
          <a:solidFill>
            <a:srgbClr val="FFFFFF"/>
          </a:solidFill>
          <a:ln w="22225">
            <a:solidFill>
              <a:srgbClr val="2E8B57"/>
            </a:solidFill>
            <a:prstDash val="solid"/>
          </a:ln>
        </p:spPr>
        <p:txBody>
          <a:bodyPr/>
          <a:lstStyle/>
          <a:p>
            <a:endParaRPr lang="en-US"/>
          </a:p>
        </p:txBody>
      </p:sp>
      <p:sp>
        <p:nvSpPr>
          <p:cNvPr id="23" name="Text 21"/>
          <p:cNvSpPr txBox="1"/>
          <p:nvPr/>
        </p:nvSpPr>
        <p:spPr>
          <a:xfrm>
            <a:off x="6537960" y="5029200"/>
            <a:ext cx="4937760" cy="731520"/>
          </a:xfrm>
          <a:prstGeom prst="rect">
            <a:avLst/>
          </a:prstGeom>
          <a:noFill/>
          <a:ln/>
        </p:spPr>
        <p:txBody>
          <a:bodyPr wrap="square" lIns="508" tIns="508" rIns="508" bIns="508" rtlCol="0" anchor="ctr"/>
          <a:lstStyle/>
          <a:p>
            <a:pPr marL="0" indent="0" algn="ctr">
              <a:buNone/>
            </a:pPr>
            <a:r>
              <a:rPr lang="en-US" sz="1200" b="1" dirty="0">
                <a:solidFill>
                  <a:srgbClr val="1F2937"/>
                </a:solidFill>
                <a:latin typeface="Calibri" pitchFamily="34" charset="0"/>
                <a:ea typeface="Calibri" pitchFamily="34" charset="-122"/>
                <a:cs typeface="Calibri" pitchFamily="34" charset="-120"/>
              </a:rPr>
              <a:t>Constraints: salary cap, 5 players, role mix</a:t>
            </a:r>
            <a:endParaRPr lang="en-US" sz="1200" dirty="0"/>
          </a:p>
        </p:txBody>
      </p:sp>
      <p:sp>
        <p:nvSpPr>
          <p:cNvPr id="24" name="Shape 22"/>
          <p:cNvSpPr/>
          <p:nvPr/>
        </p:nvSpPr>
        <p:spPr>
          <a:xfrm>
            <a:off x="10378440" y="4754880"/>
            <a:ext cx="0" cy="274320"/>
          </a:xfrm>
          <a:prstGeom prst="line">
            <a:avLst/>
          </a:prstGeom>
          <a:noFill/>
          <a:ln w="25400">
            <a:solidFill>
              <a:srgbClr val="2E8B57"/>
            </a:solidFill>
            <a:prstDash val="solid"/>
            <a:tailEnd type="triangle"/>
          </a:ln>
        </p:spPr>
        <p:txBody>
          <a:bodyPr/>
          <a:lstStyle/>
          <a:p>
            <a:endParaRPr lang="en-US"/>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KEY INNOVATIONS</a:t>
            </a:r>
            <a:endParaRPr lang="en-US" sz="3200" dirty="0"/>
          </a:p>
        </p:txBody>
      </p:sp>
      <p:sp>
        <p:nvSpPr>
          <p:cNvPr id="3" name="Text 1"/>
          <p:cNvSpPr txBox="1"/>
          <p:nvPr/>
        </p:nvSpPr>
        <p:spPr>
          <a:xfrm>
            <a:off x="457200" y="1188720"/>
            <a:ext cx="5394960" cy="4937760"/>
          </a:xfrm>
          <a:prstGeom prst="rect">
            <a:avLst/>
          </a:prstGeom>
          <a:noFill/>
          <a:ln/>
        </p:spPr>
        <p:txBody>
          <a:bodyPr wrap="square" lIns="0" tIns="0" rIns="0" bIns="0" rtlCol="0" anchor="t"/>
          <a:lstStyle/>
          <a:p>
            <a:pPr marL="0" indent="0">
              <a:buNone/>
            </a:pPr>
            <a:r>
              <a:rPr lang="en-US" sz="1600" b="1" dirty="0">
                <a:solidFill>
                  <a:srgbClr val="0070C0"/>
                </a:solidFill>
                <a:latin typeface="Calibri" pitchFamily="34" charset="0"/>
                <a:ea typeface="Calibri" pitchFamily="34" charset="-122"/>
                <a:cs typeface="Calibri" pitchFamily="34" charset="-120"/>
              </a:rPr>
              <a:t>IGL intelligence</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8-axis tactical radar and win-probability timeline; the score stays locked until two analyst annotations are attached.</a:t>
            </a:r>
            <a:endParaRPr lang="en-US" sz="1600" dirty="0"/>
          </a:p>
          <a:p>
            <a:pPr marL="0" indent="0">
              <a:spcBef>
                <a:spcPts val="800"/>
              </a:spcBef>
              <a:buNone/>
            </a:pPr>
            <a:r>
              <a:rPr lang="en-US" sz="1600" b="1" dirty="0">
                <a:solidFill>
                  <a:srgbClr val="0070C0"/>
                </a:solidFill>
                <a:latin typeface="Calibri" pitchFamily="34" charset="0"/>
                <a:ea typeface="Calibri" pitchFamily="34" charset="-122"/>
                <a:cs typeface="Calibri" pitchFamily="34" charset="-120"/>
              </a:rPr>
              <a:t>Why A over B</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Splits the difference between two candidates into fit, synergy, trajectory, value and risk, summing exactly to the total.</a:t>
            </a:r>
            <a:endParaRPr lang="en-US" sz="1600" dirty="0"/>
          </a:p>
          <a:p>
            <a:pPr marL="0" indent="0">
              <a:spcBef>
                <a:spcPts val="800"/>
              </a:spcBef>
              <a:buNone/>
            </a:pPr>
            <a:r>
              <a:rPr lang="en-US" sz="1600" b="1" dirty="0">
                <a:solidFill>
                  <a:srgbClr val="0070C0"/>
                </a:solidFill>
                <a:latin typeface="Calibri" pitchFamily="34" charset="0"/>
                <a:ea typeface="Calibri" pitchFamily="34" charset="-122"/>
                <a:cs typeface="Calibri" pitchFamily="34" charset="-120"/>
              </a:rPr>
              <a:t>Chemistry and gaps</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Roster Health Index, pairwise complementarity and a slot scanner that shows the weakest seat.</a:t>
            </a:r>
            <a:endParaRPr lang="en-US" sz="1600" dirty="0"/>
          </a:p>
          <a:p>
            <a:pPr marL="0" indent="0">
              <a:spcBef>
                <a:spcPts val="800"/>
              </a:spcBef>
              <a:buNone/>
            </a:pPr>
            <a:r>
              <a:rPr lang="en-US" sz="1600" b="1" dirty="0">
                <a:solidFill>
                  <a:srgbClr val="0070C0"/>
                </a:solidFill>
                <a:latin typeface="Calibri" pitchFamily="34" charset="0"/>
                <a:ea typeface="Calibri" pitchFamily="34" charset="-122"/>
                <a:cs typeface="Calibri" pitchFamily="34" charset="-120"/>
              </a:rPr>
              <a:t>What-if and optimizer</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1,000-round Monte Carlo swap simulation plus budget-constrained roster building.</a:t>
            </a:r>
            <a:endParaRPr lang="en-US" sz="1600" dirty="0"/>
          </a:p>
          <a:p>
            <a:pPr marL="0" indent="0">
              <a:spcBef>
                <a:spcPts val="800"/>
              </a:spcBef>
              <a:buNone/>
            </a:pPr>
            <a:r>
              <a:rPr lang="en-US" sz="1600" b="1" dirty="0">
                <a:solidFill>
                  <a:srgbClr val="0070C0"/>
                </a:solidFill>
                <a:latin typeface="Calibri" pitchFamily="34" charset="0"/>
                <a:ea typeface="Calibri" pitchFamily="34" charset="-122"/>
                <a:cs typeface="Calibri" pitchFamily="34" charset="-120"/>
              </a:rPr>
              <a:t>Hidden gems / overhype</a:t>
            </a:r>
            <a:endParaRPr lang="en-US" sz="1600" dirty="0"/>
          </a:p>
          <a:p>
            <a:pPr marL="0" indent="0">
              <a:buNone/>
            </a:pPr>
            <a:r>
              <a:rPr lang="en-US" sz="1400" dirty="0">
                <a:solidFill>
                  <a:srgbClr val="1F2937"/>
                </a:solidFill>
                <a:latin typeface="Calibri" pitchFamily="34" charset="0"/>
                <a:ea typeface="Calibri" pitchFamily="34" charset="-122"/>
                <a:cs typeface="Calibri" pitchFamily="34" charset="-120"/>
              </a:rPr>
              <a:t>Flags undervalued Tier-2 talent and players whose stats come from low-stakes rounds.</a:t>
            </a:r>
            <a:endParaRPr lang="en-US" sz="1600" dirty="0"/>
          </a:p>
        </p:txBody>
      </p:sp>
      <p:sp>
        <p:nvSpPr>
          <p:cNvPr id="4" name="Shape 2"/>
          <p:cNvSpPr/>
          <p:nvPr/>
        </p:nvSpPr>
        <p:spPr>
          <a:xfrm>
            <a:off x="6035040" y="1188720"/>
            <a:ext cx="5669280" cy="4846320"/>
          </a:xfrm>
          <a:prstGeom prst="roundRect">
            <a:avLst>
              <a:gd name="adj" fmla="val 1509"/>
            </a:avLst>
          </a:prstGeom>
          <a:solidFill>
            <a:srgbClr val="FBF3E3"/>
          </a:solidFill>
          <a:ln w="19050">
            <a:solidFill>
              <a:srgbClr val="B7791F"/>
            </a:solidFill>
            <a:prstDash val="solid"/>
          </a:ln>
        </p:spPr>
        <p:txBody>
          <a:bodyPr/>
          <a:lstStyle/>
          <a:p>
            <a:endParaRPr lang="en-US"/>
          </a:p>
        </p:txBody>
      </p:sp>
      <p:sp>
        <p:nvSpPr>
          <p:cNvPr id="5" name="Text 3"/>
          <p:cNvSpPr txBox="1"/>
          <p:nvPr/>
        </p:nvSpPr>
        <p:spPr>
          <a:xfrm>
            <a:off x="6126480" y="1225296"/>
            <a:ext cx="5486400" cy="27432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Why A over B (example deltas, points)</a:t>
            </a:r>
            <a:endParaRPr lang="en-US" sz="1200" dirty="0"/>
          </a:p>
        </p:txBody>
      </p:sp>
      <p:sp>
        <p:nvSpPr>
          <p:cNvPr id="6" name="Shape 4"/>
          <p:cNvSpPr/>
          <p:nvPr/>
        </p:nvSpPr>
        <p:spPr>
          <a:xfrm>
            <a:off x="6217920" y="5029200"/>
            <a:ext cx="5303520" cy="0"/>
          </a:xfrm>
          <a:prstGeom prst="line">
            <a:avLst/>
          </a:prstGeom>
          <a:noFill/>
          <a:ln w="19050">
            <a:solidFill>
              <a:srgbClr val="595959"/>
            </a:solidFill>
            <a:prstDash val="solid"/>
          </a:ln>
        </p:spPr>
        <p:txBody>
          <a:bodyPr/>
          <a:lstStyle/>
          <a:p>
            <a:endParaRPr lang="en-US"/>
          </a:p>
        </p:txBody>
      </p:sp>
      <p:sp>
        <p:nvSpPr>
          <p:cNvPr id="7" name="Shape 5"/>
          <p:cNvSpPr/>
          <p:nvPr/>
        </p:nvSpPr>
        <p:spPr>
          <a:xfrm>
            <a:off x="6400800" y="2926080"/>
            <a:ext cx="777240" cy="2103120"/>
          </a:xfrm>
          <a:prstGeom prst="rect">
            <a:avLst/>
          </a:prstGeom>
          <a:solidFill>
            <a:srgbClr val="2E8B57"/>
          </a:solidFill>
          <a:ln w="12700">
            <a:solidFill>
              <a:srgbClr val="2E8B57"/>
            </a:solidFill>
            <a:prstDash val="solid"/>
          </a:ln>
        </p:spPr>
        <p:txBody>
          <a:bodyPr/>
          <a:lstStyle/>
          <a:p>
            <a:endParaRPr lang="en-US"/>
          </a:p>
        </p:txBody>
      </p:sp>
      <p:sp>
        <p:nvSpPr>
          <p:cNvPr id="8" name="Text 6"/>
          <p:cNvSpPr txBox="1"/>
          <p:nvPr/>
        </p:nvSpPr>
        <p:spPr>
          <a:xfrm>
            <a:off x="6309360" y="260604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+18.4</a:t>
            </a:r>
            <a:endParaRPr lang="en-US" sz="1300" dirty="0"/>
          </a:p>
        </p:txBody>
      </p:sp>
      <p:sp>
        <p:nvSpPr>
          <p:cNvPr id="9" name="Text 7"/>
          <p:cNvSpPr txBox="1"/>
          <p:nvPr/>
        </p:nvSpPr>
        <p:spPr>
          <a:xfrm>
            <a:off x="6263640"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Utility gap</a:t>
            </a:r>
            <a:endParaRPr lang="en-US" sz="1100" dirty="0"/>
          </a:p>
        </p:txBody>
      </p:sp>
      <p:sp>
        <p:nvSpPr>
          <p:cNvPr id="10" name="Shape 8"/>
          <p:cNvSpPr/>
          <p:nvPr/>
        </p:nvSpPr>
        <p:spPr>
          <a:xfrm>
            <a:off x="7424928" y="2217420"/>
            <a:ext cx="777240" cy="708660"/>
          </a:xfrm>
          <a:prstGeom prst="rect">
            <a:avLst/>
          </a:prstGeom>
          <a:solidFill>
            <a:srgbClr val="2E8B57"/>
          </a:solidFill>
          <a:ln w="12700">
            <a:solidFill>
              <a:srgbClr val="2E8B57"/>
            </a:solidFill>
            <a:prstDash val="solid"/>
          </a:ln>
        </p:spPr>
        <p:txBody>
          <a:bodyPr/>
          <a:lstStyle/>
          <a:p>
            <a:endParaRPr lang="en-US"/>
          </a:p>
        </p:txBody>
      </p:sp>
      <p:sp>
        <p:nvSpPr>
          <p:cNvPr id="11" name="Text 9"/>
          <p:cNvSpPr txBox="1"/>
          <p:nvPr/>
        </p:nvSpPr>
        <p:spPr>
          <a:xfrm>
            <a:off x="7333488" y="189738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+6.2</a:t>
            </a:r>
            <a:endParaRPr lang="en-US" sz="1300" dirty="0"/>
          </a:p>
        </p:txBody>
      </p:sp>
      <p:sp>
        <p:nvSpPr>
          <p:cNvPr id="12" name="Text 10"/>
          <p:cNvSpPr txBox="1"/>
          <p:nvPr/>
        </p:nvSpPr>
        <p:spPr>
          <a:xfrm>
            <a:off x="7287768"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Chemistry</a:t>
            </a:r>
            <a:endParaRPr lang="en-US" sz="1100" dirty="0"/>
          </a:p>
        </p:txBody>
      </p:sp>
      <p:sp>
        <p:nvSpPr>
          <p:cNvPr id="13" name="Shape 11"/>
          <p:cNvSpPr/>
          <p:nvPr/>
        </p:nvSpPr>
        <p:spPr>
          <a:xfrm>
            <a:off x="8449056" y="2217420"/>
            <a:ext cx="777240" cy="1371600"/>
          </a:xfrm>
          <a:prstGeom prst="rect">
            <a:avLst/>
          </a:prstGeom>
          <a:solidFill>
            <a:srgbClr val="C0392B"/>
          </a:solidFill>
          <a:ln w="12700">
            <a:solidFill>
              <a:srgbClr val="C0392B"/>
            </a:solidFill>
            <a:prstDash val="solid"/>
          </a:ln>
        </p:spPr>
        <p:txBody>
          <a:bodyPr/>
          <a:lstStyle/>
          <a:p>
            <a:endParaRPr lang="en-US"/>
          </a:p>
        </p:txBody>
      </p:sp>
      <p:sp>
        <p:nvSpPr>
          <p:cNvPr id="14" name="Text 12"/>
          <p:cNvSpPr txBox="1"/>
          <p:nvPr/>
        </p:nvSpPr>
        <p:spPr>
          <a:xfrm>
            <a:off x="8357616" y="189738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-12.0</a:t>
            </a:r>
            <a:endParaRPr lang="en-US" sz="1300" dirty="0"/>
          </a:p>
        </p:txBody>
      </p:sp>
      <p:sp>
        <p:nvSpPr>
          <p:cNvPr id="15" name="Text 13"/>
          <p:cNvSpPr txBox="1"/>
          <p:nvPr/>
        </p:nvSpPr>
        <p:spPr>
          <a:xfrm>
            <a:off x="8311896"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Raw frags</a:t>
            </a:r>
            <a:endParaRPr lang="en-US" sz="1100" dirty="0"/>
          </a:p>
        </p:txBody>
      </p:sp>
      <p:sp>
        <p:nvSpPr>
          <p:cNvPr id="16" name="Shape 14"/>
          <p:cNvSpPr/>
          <p:nvPr/>
        </p:nvSpPr>
        <p:spPr>
          <a:xfrm>
            <a:off x="9473184" y="1965960"/>
            <a:ext cx="777240" cy="1623060"/>
          </a:xfrm>
          <a:prstGeom prst="rect">
            <a:avLst/>
          </a:prstGeom>
          <a:solidFill>
            <a:srgbClr val="2E8B57"/>
          </a:solidFill>
          <a:ln w="12700">
            <a:solidFill>
              <a:srgbClr val="2E8B57"/>
            </a:solidFill>
            <a:prstDash val="solid"/>
          </a:ln>
        </p:spPr>
        <p:txBody>
          <a:bodyPr/>
          <a:lstStyle/>
          <a:p>
            <a:endParaRPr lang="en-US"/>
          </a:p>
        </p:txBody>
      </p:sp>
      <p:sp>
        <p:nvSpPr>
          <p:cNvPr id="17" name="Text 15"/>
          <p:cNvSpPr txBox="1"/>
          <p:nvPr/>
        </p:nvSpPr>
        <p:spPr>
          <a:xfrm>
            <a:off x="9381744" y="164592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+14.2</a:t>
            </a:r>
            <a:endParaRPr lang="en-US" sz="1300" dirty="0"/>
          </a:p>
        </p:txBody>
      </p:sp>
      <p:sp>
        <p:nvSpPr>
          <p:cNvPr id="18" name="Text 16"/>
          <p:cNvSpPr txBox="1"/>
          <p:nvPr/>
        </p:nvSpPr>
        <p:spPr>
          <a:xfrm>
            <a:off x="9336024"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Budget value</a:t>
            </a:r>
            <a:endParaRPr lang="en-US" sz="1100" dirty="0"/>
          </a:p>
        </p:txBody>
      </p:sp>
      <p:sp>
        <p:nvSpPr>
          <p:cNvPr id="19" name="Shape 17"/>
          <p:cNvSpPr/>
          <p:nvPr/>
        </p:nvSpPr>
        <p:spPr>
          <a:xfrm>
            <a:off x="10497312" y="1965960"/>
            <a:ext cx="777240" cy="3063240"/>
          </a:xfrm>
          <a:prstGeom prst="rect">
            <a:avLst/>
          </a:prstGeom>
          <a:solidFill>
            <a:srgbClr val="7030A0"/>
          </a:solidFill>
          <a:ln w="12700">
            <a:solidFill>
              <a:srgbClr val="7030A0"/>
            </a:solidFill>
            <a:prstDash val="solid"/>
          </a:ln>
        </p:spPr>
        <p:txBody>
          <a:bodyPr/>
          <a:lstStyle/>
          <a:p>
            <a:endParaRPr lang="en-US"/>
          </a:p>
        </p:txBody>
      </p:sp>
      <p:sp>
        <p:nvSpPr>
          <p:cNvPr id="20" name="Text 18"/>
          <p:cNvSpPr txBox="1"/>
          <p:nvPr/>
        </p:nvSpPr>
        <p:spPr>
          <a:xfrm>
            <a:off x="10405872" y="164592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+26.8</a:t>
            </a:r>
            <a:endParaRPr lang="en-US" sz="1300" dirty="0"/>
          </a:p>
        </p:txBody>
      </p:sp>
      <p:sp>
        <p:nvSpPr>
          <p:cNvPr id="21" name="Text 19"/>
          <p:cNvSpPr txBox="1"/>
          <p:nvPr/>
        </p:nvSpPr>
        <p:spPr>
          <a:xfrm>
            <a:off x="10360152"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Net</a:t>
            </a:r>
            <a:endParaRPr lang="en-US" sz="11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DATA INTEGRITY AND SECURITY</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700" b="1" dirty="0">
                <a:solidFill>
                  <a:srgbClr val="0070C0"/>
                </a:solidFill>
                <a:latin typeface="Calibri" pitchFamily="34" charset="0"/>
                <a:ea typeface="Calibri" pitchFamily="34" charset="-122"/>
                <a:cs typeface="Calibri" pitchFamily="34" charset="-120"/>
              </a:rPr>
              <a:t>Dual telemetry pipeline</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Live player and match data from the HenrikDev Riot API, combined with verified offline datasets (VCT LAN match sheets). If the live API is slow, the system falls back to offline data.</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Strict CSV quality gate</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7 validation layers: schema, ranges, patterns, formula-injection stripping and SHA-256 hash sealing.</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Role-based access</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General Manager approves contracts and budgets; Coach/Analyst annotates and simulates; Scout searches and builds shortlists.</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Audit trail</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Each recommendation run is stored as a sealed snapshot, so management can see which data and weights justified a signing.</a:t>
            </a:r>
            <a:endParaRPr lang="en-US" sz="1700" dirty="0"/>
          </a:p>
        </p:txBody>
      </p:sp>
      <p:sp>
        <p:nvSpPr>
          <p:cNvPr id="4" name="Shape 2"/>
          <p:cNvSpPr/>
          <p:nvPr/>
        </p:nvSpPr>
        <p:spPr>
          <a:xfrm>
            <a:off x="6309360" y="1188720"/>
            <a:ext cx="2651760" cy="4846320"/>
          </a:xfrm>
          <a:prstGeom prst="roundRect">
            <a:avLst>
              <a:gd name="adj" fmla="val 2759"/>
            </a:avLst>
          </a:prstGeom>
          <a:solidFill>
            <a:srgbClr val="FBF3E3"/>
          </a:solidFill>
          <a:ln w="19050">
            <a:solidFill>
              <a:srgbClr val="B7791F"/>
            </a:solidFill>
            <a:prstDash val="solid"/>
          </a:ln>
        </p:spPr>
        <p:txBody>
          <a:bodyPr/>
          <a:lstStyle/>
          <a:p>
            <a:endParaRPr lang="en-US"/>
          </a:p>
        </p:txBody>
      </p:sp>
      <p:sp>
        <p:nvSpPr>
          <p:cNvPr id="5" name="Text 3"/>
          <p:cNvSpPr txBox="1"/>
          <p:nvPr/>
        </p:nvSpPr>
        <p:spPr>
          <a:xfrm>
            <a:off x="6400800" y="1225296"/>
            <a:ext cx="2468880" cy="27432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Role-based access</a:t>
            </a:r>
            <a:endParaRPr lang="en-US" sz="1200" dirty="0"/>
          </a:p>
        </p:txBody>
      </p:sp>
      <p:sp>
        <p:nvSpPr>
          <p:cNvPr id="6" name="Shape 4"/>
          <p:cNvSpPr/>
          <p:nvPr/>
        </p:nvSpPr>
        <p:spPr>
          <a:xfrm>
            <a:off x="6446520" y="1645920"/>
            <a:ext cx="2377440" cy="1005840"/>
          </a:xfrm>
          <a:prstGeom prst="roundRect">
            <a:avLst>
              <a:gd name="adj" fmla="val 7273"/>
            </a:avLst>
          </a:prstGeom>
          <a:solidFill>
            <a:srgbClr val="FFFFFF"/>
          </a:solidFill>
          <a:ln w="22225">
            <a:solidFill>
              <a:srgbClr val="B7791F"/>
            </a:solidFill>
            <a:prstDash val="solid"/>
          </a:ln>
        </p:spPr>
        <p:txBody>
          <a:bodyPr/>
          <a:lstStyle/>
          <a:p>
            <a:endParaRPr lang="en-US"/>
          </a:p>
        </p:txBody>
      </p:sp>
      <p:sp>
        <p:nvSpPr>
          <p:cNvPr id="7" name="Text 5"/>
          <p:cNvSpPr txBox="1"/>
          <p:nvPr/>
        </p:nvSpPr>
        <p:spPr>
          <a:xfrm>
            <a:off x="6446520" y="1645920"/>
            <a:ext cx="2377440" cy="100584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General Manager</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Contracts, budget, audit</a:t>
            </a:r>
            <a:endParaRPr lang="en-US" sz="1300" dirty="0"/>
          </a:p>
        </p:txBody>
      </p:sp>
      <p:sp>
        <p:nvSpPr>
          <p:cNvPr id="8" name="Shape 6"/>
          <p:cNvSpPr/>
          <p:nvPr/>
        </p:nvSpPr>
        <p:spPr>
          <a:xfrm>
            <a:off x="6446520" y="3017520"/>
            <a:ext cx="2377440" cy="1005840"/>
          </a:xfrm>
          <a:prstGeom prst="roundRect">
            <a:avLst>
              <a:gd name="adj" fmla="val 7273"/>
            </a:avLst>
          </a:prstGeom>
          <a:solidFill>
            <a:srgbClr val="FFFFFF"/>
          </a:solidFill>
          <a:ln w="22225">
            <a:solidFill>
              <a:srgbClr val="B7791F"/>
            </a:solidFill>
            <a:prstDash val="solid"/>
          </a:ln>
        </p:spPr>
        <p:txBody>
          <a:bodyPr/>
          <a:lstStyle/>
          <a:p>
            <a:endParaRPr lang="en-US"/>
          </a:p>
        </p:txBody>
      </p:sp>
      <p:sp>
        <p:nvSpPr>
          <p:cNvPr id="9" name="Text 7"/>
          <p:cNvSpPr txBox="1"/>
          <p:nvPr/>
        </p:nvSpPr>
        <p:spPr>
          <a:xfrm>
            <a:off x="6446520" y="3017520"/>
            <a:ext cx="2377440" cy="100584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Coach / Analyst</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Annotate, simulate, weights</a:t>
            </a:r>
            <a:endParaRPr lang="en-US" sz="1300" dirty="0"/>
          </a:p>
        </p:txBody>
      </p:sp>
      <p:sp>
        <p:nvSpPr>
          <p:cNvPr id="10" name="Shape 8"/>
          <p:cNvSpPr/>
          <p:nvPr/>
        </p:nvSpPr>
        <p:spPr>
          <a:xfrm>
            <a:off x="6446520" y="4389120"/>
            <a:ext cx="2377440" cy="1005840"/>
          </a:xfrm>
          <a:prstGeom prst="roundRect">
            <a:avLst>
              <a:gd name="adj" fmla="val 7273"/>
            </a:avLst>
          </a:prstGeom>
          <a:solidFill>
            <a:srgbClr val="FFFFFF"/>
          </a:solidFill>
          <a:ln w="22225">
            <a:solidFill>
              <a:srgbClr val="B7791F"/>
            </a:solidFill>
            <a:prstDash val="solid"/>
          </a:ln>
        </p:spPr>
        <p:txBody>
          <a:bodyPr/>
          <a:lstStyle/>
          <a:p>
            <a:endParaRPr lang="en-US"/>
          </a:p>
        </p:txBody>
      </p:sp>
      <p:sp>
        <p:nvSpPr>
          <p:cNvPr id="11" name="Text 9"/>
          <p:cNvSpPr txBox="1"/>
          <p:nvPr/>
        </p:nvSpPr>
        <p:spPr>
          <a:xfrm>
            <a:off x="6446520" y="4389120"/>
            <a:ext cx="2377440" cy="100584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Talent Scout</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Search, shortlist, ingest CSV</a:t>
            </a:r>
            <a:endParaRPr lang="en-US" sz="1300" dirty="0"/>
          </a:p>
        </p:txBody>
      </p:sp>
      <p:sp>
        <p:nvSpPr>
          <p:cNvPr id="12" name="Shape 10"/>
          <p:cNvSpPr/>
          <p:nvPr/>
        </p:nvSpPr>
        <p:spPr>
          <a:xfrm>
            <a:off x="9326880" y="1188720"/>
            <a:ext cx="2377440" cy="4846320"/>
          </a:xfrm>
          <a:prstGeom prst="roundRect">
            <a:avLst>
              <a:gd name="adj" fmla="val 3077"/>
            </a:avLst>
          </a:prstGeom>
          <a:solidFill>
            <a:srgbClr val="EAF6EF"/>
          </a:solidFill>
          <a:ln w="19050">
            <a:solidFill>
              <a:srgbClr val="2E8B57"/>
            </a:solidFill>
            <a:prstDash val="solid"/>
          </a:ln>
        </p:spPr>
        <p:txBody>
          <a:bodyPr/>
          <a:lstStyle/>
          <a:p>
            <a:endParaRPr lang="en-US"/>
          </a:p>
        </p:txBody>
      </p:sp>
      <p:sp>
        <p:nvSpPr>
          <p:cNvPr id="13" name="Text 11"/>
          <p:cNvSpPr txBox="1"/>
          <p:nvPr/>
        </p:nvSpPr>
        <p:spPr>
          <a:xfrm>
            <a:off x="9418320" y="1225296"/>
            <a:ext cx="219456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Data and audit</a:t>
            </a:r>
            <a:endParaRPr lang="en-US" sz="1200" dirty="0"/>
          </a:p>
        </p:txBody>
      </p:sp>
      <p:sp>
        <p:nvSpPr>
          <p:cNvPr id="14" name="Shape 12"/>
          <p:cNvSpPr/>
          <p:nvPr/>
        </p:nvSpPr>
        <p:spPr>
          <a:xfrm>
            <a:off x="9464040" y="1645920"/>
            <a:ext cx="210312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15" name="Text 13"/>
          <p:cNvSpPr txBox="1"/>
          <p:nvPr/>
        </p:nvSpPr>
        <p:spPr>
          <a:xfrm>
            <a:off x="9464040" y="1645920"/>
            <a:ext cx="2103120" cy="100584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CSV quality gate</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7 layers</a:t>
            </a:r>
            <a:endParaRPr lang="en-US" sz="1300" dirty="0"/>
          </a:p>
        </p:txBody>
      </p:sp>
      <p:sp>
        <p:nvSpPr>
          <p:cNvPr id="16" name="Shape 14"/>
          <p:cNvSpPr/>
          <p:nvPr/>
        </p:nvSpPr>
        <p:spPr>
          <a:xfrm>
            <a:off x="9464040" y="3017520"/>
            <a:ext cx="210312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17" name="Text 15"/>
          <p:cNvSpPr txBox="1"/>
          <p:nvPr/>
        </p:nvSpPr>
        <p:spPr>
          <a:xfrm>
            <a:off x="9464040" y="3017520"/>
            <a:ext cx="2103120" cy="100584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Live + offline data</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With fallback</a:t>
            </a:r>
            <a:endParaRPr lang="en-US" sz="1300" dirty="0"/>
          </a:p>
        </p:txBody>
      </p:sp>
      <p:sp>
        <p:nvSpPr>
          <p:cNvPr id="18" name="Shape 16"/>
          <p:cNvSpPr/>
          <p:nvPr/>
        </p:nvSpPr>
        <p:spPr>
          <a:xfrm>
            <a:off x="9464040" y="4389120"/>
            <a:ext cx="210312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19" name="Text 17"/>
          <p:cNvSpPr txBox="1"/>
          <p:nvPr/>
        </p:nvSpPr>
        <p:spPr>
          <a:xfrm>
            <a:off x="9464040" y="4389120"/>
            <a:ext cx="2103120" cy="100584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SHA-256 snapshot</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Immutable log</a:t>
            </a:r>
            <a:endParaRPr lang="en-US" sz="1300" dirty="0"/>
          </a:p>
        </p:txBody>
      </p:sp>
      <p:sp>
        <p:nvSpPr>
          <p:cNvPr id="20" name="Shape 18"/>
          <p:cNvSpPr/>
          <p:nvPr/>
        </p:nvSpPr>
        <p:spPr>
          <a:xfrm>
            <a:off x="8823960" y="2148840"/>
            <a:ext cx="640080" cy="0"/>
          </a:xfrm>
          <a:prstGeom prst="line">
            <a:avLst/>
          </a:prstGeom>
          <a:noFill/>
          <a:ln w="25400">
            <a:solidFill>
              <a:srgbClr val="B7791F"/>
            </a:solidFill>
            <a:prstDash val="solid"/>
            <a:tailEnd type="triangle"/>
          </a:ln>
        </p:spPr>
        <p:txBody>
          <a:bodyPr/>
          <a:lstStyle/>
          <a:p>
            <a:endParaRPr lang="en-US"/>
          </a:p>
        </p:txBody>
      </p:sp>
      <p:sp>
        <p:nvSpPr>
          <p:cNvPr id="21" name="Shape 19"/>
          <p:cNvSpPr/>
          <p:nvPr/>
        </p:nvSpPr>
        <p:spPr>
          <a:xfrm>
            <a:off x="8823960" y="3520440"/>
            <a:ext cx="640080" cy="0"/>
          </a:xfrm>
          <a:prstGeom prst="line">
            <a:avLst/>
          </a:prstGeom>
          <a:noFill/>
          <a:ln w="25400">
            <a:solidFill>
              <a:srgbClr val="B7791F"/>
            </a:solidFill>
            <a:prstDash val="solid"/>
            <a:tailEnd type="triangle"/>
          </a:ln>
        </p:spPr>
        <p:txBody>
          <a:bodyPr/>
          <a:lstStyle/>
          <a:p>
            <a:endParaRPr lang="en-US"/>
          </a:p>
        </p:txBody>
      </p:sp>
      <p:sp>
        <p:nvSpPr>
          <p:cNvPr id="22" name="Shape 20"/>
          <p:cNvSpPr/>
          <p:nvPr/>
        </p:nvSpPr>
        <p:spPr>
          <a:xfrm>
            <a:off x="8823960" y="4892040"/>
            <a:ext cx="640080" cy="0"/>
          </a:xfrm>
          <a:prstGeom prst="line">
            <a:avLst/>
          </a:prstGeom>
          <a:noFill/>
          <a:ln w="25400">
            <a:solidFill>
              <a:srgbClr val="B7791F"/>
            </a:solidFill>
            <a:prstDash val="solid"/>
            <a:tailEnd type="triangle"/>
          </a:ln>
        </p:spPr>
        <p:txBody>
          <a:bodyPr/>
          <a:lstStyle/>
          <a:p>
            <a:endParaRPr lang="en-US"/>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VALIDATION AND IMPACT</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700" b="1" dirty="0">
                <a:solidFill>
                  <a:srgbClr val="0070C0"/>
                </a:solidFill>
                <a:latin typeface="Calibri" pitchFamily="34" charset="0"/>
                <a:ea typeface="Calibri" pitchFamily="34" charset="-122"/>
                <a:cs typeface="Calibri" pitchFamily="34" charset="-120"/>
              </a:rPr>
              <a:t>Empirical validation</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Ran on 10 competitive VCT LAN matches (Fnatic, Sentinels, Leviatán, G2) and compared against professional coaching decisions.</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Reported results</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91.4% alignment with professional signings; +12.8% eco-round conversion for teams that filled a diagnosed utility gap.</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Business impact</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Scouting cycle drops from 18.5 hours (spreadsheets) and 12.0 hours (public stats sites) to 2.2 hours, an 88% reduction.</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Benefit</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Faster discovery, fewer misprofiled buyouts, and decisions the board can defend.</a:t>
            </a:r>
            <a:endParaRPr lang="en-US" sz="1700" dirty="0"/>
          </a:p>
        </p:txBody>
      </p:sp>
      <p:graphicFrame>
        <p:nvGraphicFramePr>
          <p:cNvPr id="4" name="Chart 0"/>
          <p:cNvGraphicFramePr/>
          <p:nvPr/>
        </p:nvGraphicFramePr>
        <p:xfrm>
          <a:off x="6309360" y="1188720"/>
          <a:ext cx="53949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ROADMAP AND SUMMARY</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700" b="1" dirty="0">
                <a:solidFill>
                  <a:srgbClr val="0070C0"/>
                </a:solidFill>
                <a:latin typeface="Calibri" pitchFamily="34" charset="0"/>
                <a:ea typeface="Calibri" pitchFamily="34" charset="-122"/>
                <a:cs typeface="Calibri" pitchFamily="34" charset="-120"/>
              </a:rPr>
              <a:t>Summary</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Golden Snitch turns esports scouting from subjective guesswork into an objective, reproducible and auditable process built around each roster’s real needs.</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Next steps</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Computer-vision VOD ingestion for flash and smoke telemetry; contract-database integration for automatic buyout alerts; and a mobile scout companion for coaches at venues.</a:t>
            </a:r>
            <a:endParaRPr lang="en-US" sz="1700" dirty="0"/>
          </a:p>
          <a:p>
            <a:pPr marL="0" indent="0">
              <a:spcBef>
                <a:spcPts val="800"/>
              </a:spcBef>
              <a:buNone/>
            </a:pPr>
            <a:r>
              <a:rPr lang="en-US" sz="1700" b="1" dirty="0">
                <a:solidFill>
                  <a:srgbClr val="0070C0"/>
                </a:solidFill>
                <a:latin typeface="Calibri" pitchFamily="34" charset="0"/>
                <a:ea typeface="Calibri" pitchFamily="34" charset="-122"/>
                <a:cs typeface="Calibri" pitchFamily="34" charset="-120"/>
              </a:rPr>
              <a:t>Platform footprint</a:t>
            </a:r>
            <a:endParaRPr lang="en-US" sz="1700" dirty="0"/>
          </a:p>
          <a:p>
            <a:pPr marL="0" indent="0">
              <a:buNone/>
            </a:pPr>
            <a:r>
              <a:rPr lang="en-US" sz="1500" dirty="0">
                <a:solidFill>
                  <a:srgbClr val="1F2937"/>
                </a:solidFill>
                <a:latin typeface="Calibri" pitchFamily="34" charset="0"/>
                <a:ea typeface="Calibri" pitchFamily="34" charset="-122"/>
                <a:cs typeface="Calibri" pitchFamily="34" charset="-120"/>
              </a:rPr>
              <a:t>About 14,200 lines of frontend and 18,500 lines of backend code, with 38 passing backend tests.</a:t>
            </a:r>
            <a:endParaRPr lang="en-US" sz="1700" dirty="0"/>
          </a:p>
        </p:txBody>
      </p:sp>
      <p:sp>
        <p:nvSpPr>
          <p:cNvPr id="4" name="Shape 2"/>
          <p:cNvSpPr/>
          <p:nvPr/>
        </p:nvSpPr>
        <p:spPr>
          <a:xfrm>
            <a:off x="6309360" y="1188720"/>
            <a:ext cx="5394960" cy="4846320"/>
          </a:xfrm>
          <a:prstGeom prst="roundRect">
            <a:avLst>
              <a:gd name="adj" fmla="val 1509"/>
            </a:avLst>
          </a:prstGeom>
          <a:solidFill>
            <a:srgbClr val="EAF2FB"/>
          </a:solidFill>
          <a:ln w="19050">
            <a:solidFill>
              <a:srgbClr val="0070C0"/>
            </a:solidFill>
            <a:prstDash val="solid"/>
          </a:ln>
        </p:spPr>
        <p:txBody>
          <a:bodyPr/>
          <a:lstStyle/>
          <a:p>
            <a:endParaRPr lang="en-US"/>
          </a:p>
        </p:txBody>
      </p:sp>
      <p:sp>
        <p:nvSpPr>
          <p:cNvPr id="5" name="Text 3"/>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0070C0"/>
                </a:solidFill>
                <a:latin typeface="Calibri" pitchFamily="34" charset="0"/>
                <a:ea typeface="Calibri" pitchFamily="34" charset="-122"/>
                <a:cs typeface="Calibri" pitchFamily="34" charset="-120"/>
              </a:rPr>
              <a:t>Production roadmap (2027)</a:t>
            </a:r>
            <a:endParaRPr lang="en-US" sz="1200" dirty="0"/>
          </a:p>
        </p:txBody>
      </p:sp>
      <p:sp>
        <p:nvSpPr>
          <p:cNvPr id="6" name="Shape 4"/>
          <p:cNvSpPr/>
          <p:nvPr/>
        </p:nvSpPr>
        <p:spPr>
          <a:xfrm>
            <a:off x="6949440" y="1828800"/>
            <a:ext cx="0" cy="3749040"/>
          </a:xfrm>
          <a:prstGeom prst="line">
            <a:avLst/>
          </a:prstGeom>
          <a:noFill/>
          <a:ln w="38100">
            <a:solidFill>
              <a:srgbClr val="0070C0"/>
            </a:solidFill>
            <a:prstDash val="solid"/>
          </a:ln>
        </p:spPr>
        <p:txBody>
          <a:bodyPr/>
          <a:lstStyle/>
          <a:p>
            <a:endParaRPr lang="en-US"/>
          </a:p>
        </p:txBody>
      </p:sp>
      <p:sp>
        <p:nvSpPr>
          <p:cNvPr id="7" name="Shape 5"/>
          <p:cNvSpPr/>
          <p:nvPr/>
        </p:nvSpPr>
        <p:spPr>
          <a:xfrm>
            <a:off x="6812280" y="1828800"/>
            <a:ext cx="274320" cy="274320"/>
          </a:xfrm>
          <a:prstGeom prst="ellipse">
            <a:avLst/>
          </a:prstGeom>
          <a:solidFill>
            <a:srgbClr val="0070C0"/>
          </a:solidFill>
          <a:ln w="12700">
            <a:solidFill>
              <a:srgbClr val="0070C0"/>
            </a:solidFill>
            <a:prstDash val="solid"/>
          </a:ln>
        </p:spPr>
        <p:txBody>
          <a:bodyPr/>
          <a:lstStyle/>
          <a:p>
            <a:endParaRPr lang="en-US"/>
          </a:p>
        </p:txBody>
      </p:sp>
      <p:sp>
        <p:nvSpPr>
          <p:cNvPr id="8" name="Shape 6"/>
          <p:cNvSpPr/>
          <p:nvPr/>
        </p:nvSpPr>
        <p:spPr>
          <a:xfrm>
            <a:off x="7406640" y="1554480"/>
            <a:ext cx="4023360" cy="868680"/>
          </a:xfrm>
          <a:prstGeom prst="roundRect">
            <a:avLst>
              <a:gd name="adj" fmla="val 8421"/>
            </a:avLst>
          </a:prstGeom>
          <a:solidFill>
            <a:srgbClr val="FFFFFF"/>
          </a:solidFill>
          <a:ln w="22225">
            <a:solidFill>
              <a:srgbClr val="0070C0"/>
            </a:solidFill>
            <a:prstDash val="solid"/>
          </a:ln>
        </p:spPr>
        <p:txBody>
          <a:bodyPr/>
          <a:lstStyle/>
          <a:p>
            <a:endParaRPr lang="en-US"/>
          </a:p>
        </p:txBody>
      </p:sp>
      <p:sp>
        <p:nvSpPr>
          <p:cNvPr id="9" name="Text 7"/>
          <p:cNvSpPr txBox="1"/>
          <p:nvPr/>
        </p:nvSpPr>
        <p:spPr>
          <a:xfrm>
            <a:off x="7406640" y="1554480"/>
            <a:ext cx="4023360" cy="86868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Q1 2027</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Computer-vision VOD ingestion</a:t>
            </a:r>
            <a:endParaRPr lang="en-US" sz="1400" dirty="0"/>
          </a:p>
        </p:txBody>
      </p:sp>
      <p:sp>
        <p:nvSpPr>
          <p:cNvPr id="10" name="Shape 8"/>
          <p:cNvSpPr/>
          <p:nvPr/>
        </p:nvSpPr>
        <p:spPr>
          <a:xfrm>
            <a:off x="6812280" y="3200400"/>
            <a:ext cx="274320" cy="274320"/>
          </a:xfrm>
          <a:prstGeom prst="ellipse">
            <a:avLst/>
          </a:prstGeom>
          <a:solidFill>
            <a:srgbClr val="0070C0"/>
          </a:solidFill>
          <a:ln w="12700">
            <a:solidFill>
              <a:srgbClr val="0070C0"/>
            </a:solidFill>
            <a:prstDash val="solid"/>
          </a:ln>
        </p:spPr>
        <p:txBody>
          <a:bodyPr/>
          <a:lstStyle/>
          <a:p>
            <a:endParaRPr lang="en-US"/>
          </a:p>
        </p:txBody>
      </p:sp>
      <p:sp>
        <p:nvSpPr>
          <p:cNvPr id="11" name="Shape 9"/>
          <p:cNvSpPr/>
          <p:nvPr/>
        </p:nvSpPr>
        <p:spPr>
          <a:xfrm>
            <a:off x="7406640" y="2926080"/>
            <a:ext cx="4023360" cy="868680"/>
          </a:xfrm>
          <a:prstGeom prst="roundRect">
            <a:avLst>
              <a:gd name="adj" fmla="val 8421"/>
            </a:avLst>
          </a:prstGeom>
          <a:solidFill>
            <a:srgbClr val="FFFFFF"/>
          </a:solidFill>
          <a:ln w="22225">
            <a:solidFill>
              <a:srgbClr val="0070C0"/>
            </a:solidFill>
            <a:prstDash val="solid"/>
          </a:ln>
        </p:spPr>
        <p:txBody>
          <a:bodyPr/>
          <a:lstStyle/>
          <a:p>
            <a:endParaRPr lang="en-US"/>
          </a:p>
        </p:txBody>
      </p:sp>
      <p:sp>
        <p:nvSpPr>
          <p:cNvPr id="12" name="Text 10"/>
          <p:cNvSpPr txBox="1"/>
          <p:nvPr/>
        </p:nvSpPr>
        <p:spPr>
          <a:xfrm>
            <a:off x="7406640" y="2926080"/>
            <a:ext cx="4023360" cy="86868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Q2 2027</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Contract database buyout alerts</a:t>
            </a:r>
            <a:endParaRPr lang="en-US" sz="1400" dirty="0"/>
          </a:p>
        </p:txBody>
      </p:sp>
      <p:sp>
        <p:nvSpPr>
          <p:cNvPr id="13" name="Shape 11"/>
          <p:cNvSpPr/>
          <p:nvPr/>
        </p:nvSpPr>
        <p:spPr>
          <a:xfrm>
            <a:off x="6812280" y="4572000"/>
            <a:ext cx="274320" cy="274320"/>
          </a:xfrm>
          <a:prstGeom prst="ellipse">
            <a:avLst/>
          </a:prstGeom>
          <a:solidFill>
            <a:srgbClr val="0070C0"/>
          </a:solidFill>
          <a:ln w="12700">
            <a:solidFill>
              <a:srgbClr val="0070C0"/>
            </a:solidFill>
            <a:prstDash val="solid"/>
          </a:ln>
        </p:spPr>
        <p:txBody>
          <a:bodyPr/>
          <a:lstStyle/>
          <a:p>
            <a:endParaRPr lang="en-US"/>
          </a:p>
        </p:txBody>
      </p:sp>
      <p:sp>
        <p:nvSpPr>
          <p:cNvPr id="14" name="Shape 12"/>
          <p:cNvSpPr/>
          <p:nvPr/>
        </p:nvSpPr>
        <p:spPr>
          <a:xfrm>
            <a:off x="7406640" y="4297680"/>
            <a:ext cx="4023360" cy="868680"/>
          </a:xfrm>
          <a:prstGeom prst="roundRect">
            <a:avLst>
              <a:gd name="adj" fmla="val 8421"/>
            </a:avLst>
          </a:prstGeom>
          <a:solidFill>
            <a:srgbClr val="FFFFFF"/>
          </a:solidFill>
          <a:ln w="22225">
            <a:solidFill>
              <a:srgbClr val="0070C0"/>
            </a:solidFill>
            <a:prstDash val="solid"/>
          </a:ln>
        </p:spPr>
        <p:txBody>
          <a:bodyPr/>
          <a:lstStyle/>
          <a:p>
            <a:endParaRPr lang="en-US"/>
          </a:p>
        </p:txBody>
      </p:sp>
      <p:sp>
        <p:nvSpPr>
          <p:cNvPr id="15" name="Text 13"/>
          <p:cNvSpPr txBox="1"/>
          <p:nvPr/>
        </p:nvSpPr>
        <p:spPr>
          <a:xfrm>
            <a:off x="7406640" y="4297680"/>
            <a:ext cx="4023360" cy="86868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Q3 2027</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Mobile scout companion (PWA)</a:t>
            </a:r>
            <a:endParaRPr lang="en-US" sz="14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1064</Words>
  <Application>Microsoft Office PowerPoint</Application>
  <PresentationFormat>Widescreen</PresentationFormat>
  <Paragraphs>177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Krishna Chandrakant Patil</cp:lastModifiedBy>
  <cp:revision>2</cp:revision>
  <dcterms:created xsi:type="dcterms:W3CDTF">2026-10-24T23:45:51Z</dcterms:created>
  <dcterms:modified xsi:type="dcterms:W3CDTF">2026-10-24T23:49:18Z</dcterms:modified>
</cp:coreProperties>
</file>